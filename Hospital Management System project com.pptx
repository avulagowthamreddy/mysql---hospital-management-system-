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64" r:id="rId2"/>
    <p:sldId id="265" r:id="rId3"/>
    <p:sldId id="266" r:id="rId4"/>
    <p:sldId id="267" r:id="rId5"/>
    <p:sldId id="268" r:id="rId6"/>
    <p:sldId id="269" r:id="rId7"/>
    <p:sldId id="270"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5" r:id="rId21"/>
    <p:sldId id="286" r:id="rId22"/>
    <p:sldId id="287" r:id="rId23"/>
    <p:sldId id="288" r:id="rId24"/>
    <p:sldId id="289" r:id="rId25"/>
    <p:sldId id="291" r:id="rId26"/>
    <p:sldId id="292" r:id="rId27"/>
    <p:sldId id="293" r:id="rId28"/>
    <p:sldId id="294" r:id="rId29"/>
    <p:sldId id="295" r:id="rId30"/>
    <p:sldId id="296" r:id="rId31"/>
    <p:sldId id="297" r:id="rId32"/>
    <p:sldId id="298" r:id="rId33"/>
    <p:sldId id="299" r:id="rId34"/>
    <p:sldId id="300" r:id="rId35"/>
    <p:sldId id="290" r:id="rId36"/>
    <p:sldId id="27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B21D0F-C647-4718-B688-328F016FF557}" type="datetimeFigureOut">
              <a:rPr lang="en-IN" smtClean="0"/>
              <a:t>14-08-2026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65CD95-EA90-4A3F-B0DD-BF636568C935}" type="slidenum">
              <a:rPr lang="en-IN" smtClean="0"/>
              <a:t>‹#›</a:t>
            </a:fld>
            <a:endParaRPr lang="en-IN"/>
          </a:p>
        </p:txBody>
      </p:sp>
    </p:spTree>
    <p:extLst>
      <p:ext uri="{BB962C8B-B14F-4D97-AF65-F5344CB8AC3E}">
        <p14:creationId xmlns:p14="http://schemas.microsoft.com/office/powerpoint/2010/main" val="2842140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765CD95-EA90-4A3F-B0DD-BF636568C935}" type="slidenum">
              <a:rPr lang="en-IN" smtClean="0"/>
              <a:t>6</a:t>
            </a:fld>
            <a:endParaRPr lang="en-IN"/>
          </a:p>
        </p:txBody>
      </p:sp>
    </p:spTree>
    <p:extLst>
      <p:ext uri="{BB962C8B-B14F-4D97-AF65-F5344CB8AC3E}">
        <p14:creationId xmlns:p14="http://schemas.microsoft.com/office/powerpoint/2010/main" val="364464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2" name="Rectangle 11"/>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6505AEA3-A8D5-4E16-BCAC-2C653DCDC4A7}" type="datetimeFigureOut">
              <a:rPr lang="en-IN" smtClean="0"/>
              <a:t>14-08-2026</a:t>
            </a:fld>
            <a:endParaRPr lang="en-IN"/>
          </a:p>
        </p:txBody>
      </p:sp>
      <p:sp>
        <p:nvSpPr>
          <p:cNvPr id="17" name="Footer Placeholder 16"/>
          <p:cNvSpPr>
            <a:spLocks noGrp="1"/>
          </p:cNvSpPr>
          <p:nvPr>
            <p:ph type="ftr" sz="quarter" idx="11"/>
          </p:nvPr>
        </p:nvSpPr>
        <p:spPr/>
        <p:txBody>
          <a:bodyPr/>
          <a:lstStyle/>
          <a:p>
            <a:endParaRPr lang="en-IN"/>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9" name="Slide Number Placeholder 28"/>
          <p:cNvSpPr>
            <a:spLocks noGrp="1"/>
          </p:cNvSpPr>
          <p:nvPr>
            <p:ph type="sldNum" sz="quarter" idx="12"/>
          </p:nvPr>
        </p:nvSpPr>
        <p:spPr>
          <a:xfrm>
            <a:off x="5791200" y="2199451"/>
            <a:ext cx="609600" cy="441325"/>
          </a:xfrm>
        </p:spPr>
        <p:txBody>
          <a:bodyPr/>
          <a:lstStyle>
            <a:lvl1pPr>
              <a:defRPr>
                <a:solidFill>
                  <a:schemeClr val="accent3">
                    <a:shade val="75000"/>
                  </a:schemeClr>
                </a:solidFill>
              </a:defRPr>
            </a:lvl1pPr>
          </a:lstStyle>
          <a:p>
            <a:fld id="{71FDA23C-B541-44D6-9891-6BB978909FF6}" type="slidenum">
              <a:rPr lang="en-IN" smtClean="0"/>
              <a:t>‹#›</a:t>
            </a:fld>
            <a:endParaRPr lang="en-IN"/>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a:t>Click to edit Master title style</a:t>
            </a:r>
          </a:p>
        </p:txBody>
      </p:sp>
    </p:spTree>
    <p:extLst>
      <p:ext uri="{BB962C8B-B14F-4D97-AF65-F5344CB8AC3E}">
        <p14:creationId xmlns:p14="http://schemas.microsoft.com/office/powerpoint/2010/main" val="326601358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6505AEA3-A8D5-4E16-BCAC-2C653DCDC4A7}"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5815584" y="1026373"/>
            <a:ext cx="609600" cy="441325"/>
          </a:xfrm>
        </p:spPr>
        <p:txBody>
          <a:bodyPr/>
          <a:lstStyle/>
          <a:p>
            <a:fld id="{71FDA23C-B541-44D6-9891-6BB978909FF6}" type="slidenum">
              <a:rPr lang="en-IN" smtClean="0"/>
              <a:t>‹#›</a:t>
            </a:fld>
            <a:endParaRPr lang="en-IN"/>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18225205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5" name="Footer Placeholder 4"/>
          <p:cNvSpPr>
            <a:spLocks noGrp="1"/>
          </p:cNvSpPr>
          <p:nvPr>
            <p:ph type="ftr" sz="quarter" idx="11"/>
          </p:nvPr>
        </p:nvSpPr>
        <p:spPr/>
        <p:txBody>
          <a:bodyPr/>
          <a:lstStyle/>
          <a:p>
            <a:endParaRPr lang="en-IN"/>
          </a:p>
        </p:txBody>
      </p:sp>
      <p:sp>
        <p:nvSpPr>
          <p:cNvPr id="4" name="Date Placeholder 3"/>
          <p:cNvSpPr>
            <a:spLocks noGrp="1"/>
          </p:cNvSpPr>
          <p:nvPr>
            <p:ph type="dt" sz="half" idx="10"/>
          </p:nvPr>
        </p:nvSpPr>
        <p:spPr/>
        <p:txBody>
          <a:bodyPr/>
          <a:lstStyle/>
          <a:p>
            <a:fld id="{6505AEA3-A8D5-4E16-BCAC-2C653DCDC4A7}" type="datetimeFigureOut">
              <a:rPr lang="en-IN" smtClean="0"/>
              <a:t>14-08-2026</a:t>
            </a:fld>
            <a:endParaRPr lang="en-IN"/>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6" name="Slide Number Placeholder 5"/>
          <p:cNvSpPr>
            <a:spLocks noGrp="1"/>
          </p:cNvSpPr>
          <p:nvPr>
            <p:ph type="sldNum" sz="quarter" idx="12"/>
          </p:nvPr>
        </p:nvSpPr>
        <p:spPr>
          <a:xfrm>
            <a:off x="5791200" y="2199451"/>
            <a:ext cx="609600" cy="441325"/>
          </a:xfrm>
        </p:spPr>
        <p:txBody>
          <a:bodyPr/>
          <a:lstStyle>
            <a:lvl1pPr>
              <a:defRPr>
                <a:solidFill>
                  <a:schemeClr val="accent3">
                    <a:shade val="75000"/>
                  </a:schemeClr>
                </a:solidFill>
              </a:defRPr>
            </a:lvl1pPr>
          </a:lstStyle>
          <a:p>
            <a:fld id="{71FDA23C-B541-44D6-9891-6BB978909FF6}" type="slidenum">
              <a:rPr lang="en-IN" smtClean="0"/>
              <a:t>‹#›</a:t>
            </a:fld>
            <a:endParaRPr lang="en-IN"/>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309995077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2336" y="228600"/>
            <a:ext cx="11379200" cy="758952"/>
          </a:xfrm>
        </p:spPr>
        <p:txBody>
          <a:bodyPr/>
          <a:lstStyle/>
          <a:p>
            <a:r>
              <a:rPr kumimoji="0" lang="en-US"/>
              <a:t>Click to edit Master title style</a:t>
            </a:r>
          </a:p>
        </p:txBody>
      </p:sp>
      <p:sp>
        <p:nvSpPr>
          <p:cNvPr id="5" name="Date Placeholder 4"/>
          <p:cNvSpPr>
            <a:spLocks noGrp="1"/>
          </p:cNvSpPr>
          <p:nvPr>
            <p:ph type="dt" sz="half" idx="10"/>
          </p:nvPr>
        </p:nvSpPr>
        <p:spPr>
          <a:xfrm>
            <a:off x="7721600" y="6409944"/>
            <a:ext cx="4059936" cy="365760"/>
          </a:xfrm>
        </p:spPr>
        <p:txBody>
          <a:bodyPr/>
          <a:lstStyle/>
          <a:p>
            <a:fld id="{6505AEA3-A8D5-4E16-BCAC-2C653DCDC4A7}" type="datetimeFigureOut">
              <a:rPr lang="en-IN" smtClean="0"/>
              <a:t>14-08-2026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1FDA23C-B541-44D6-9891-6BB978909FF6}" type="slidenum">
              <a:rPr lang="en-IN" smtClean="0"/>
              <a:t>‹#›</a:t>
            </a:fld>
            <a:endParaRPr lang="en-IN"/>
          </a:p>
        </p:txBody>
      </p:sp>
      <p:sp>
        <p:nvSpPr>
          <p:cNvPr id="8" name="Straight Connector 7"/>
          <p:cNvSpPr>
            <a:spLocks noChangeShapeType="1"/>
          </p:cNvSpPr>
          <p:nvPr/>
        </p:nvSpPr>
        <p:spPr bwMode="auto">
          <a:xfrm flipV="1">
            <a:off x="6084107" y="1575653"/>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558666024"/>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388441"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6505AEA3-A8D5-4E16-BCAC-2C653DCDC4A7}" type="datetimeFigureOut">
              <a:rPr lang="en-IN" smtClean="0"/>
              <a:t>14-08-2026</a:t>
            </a:fld>
            <a:endParaRPr lang="en-IN"/>
          </a:p>
        </p:txBody>
      </p:sp>
      <p:sp>
        <p:nvSpPr>
          <p:cNvPr id="8" name="Footer Placeholder 7"/>
          <p:cNvSpPr>
            <a:spLocks noGrp="1"/>
          </p:cNvSpPr>
          <p:nvPr>
            <p:ph type="ftr" sz="quarter" idx="11"/>
          </p:nvPr>
        </p:nvSpPr>
        <p:spPr>
          <a:xfrm>
            <a:off x="406400" y="6409944"/>
            <a:ext cx="4775200" cy="365760"/>
          </a:xfrm>
        </p:spPr>
        <p:txBody>
          <a:bodyPr/>
          <a:lstStyle/>
          <a:p>
            <a:endParaRPr lang="en-IN"/>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lide Number Placeholder 8"/>
          <p:cNvSpPr>
            <a:spLocks noGrp="1"/>
          </p:cNvSpPr>
          <p:nvPr>
            <p:ph type="sldNum" sz="quarter" idx="12"/>
          </p:nvPr>
        </p:nvSpPr>
        <p:spPr>
          <a:xfrm>
            <a:off x="5791200" y="1042417"/>
            <a:ext cx="609600" cy="441325"/>
          </a:xfrm>
        </p:spPr>
        <p:txBody>
          <a:bodyPr/>
          <a:lstStyle>
            <a:lvl1pPr algn="ctr">
              <a:defRPr/>
            </a:lvl1pPr>
          </a:lstStyle>
          <a:p>
            <a:fld id="{71FDA23C-B541-44D6-9891-6BB978909FF6}" type="slidenum">
              <a:rPr lang="en-IN" smtClean="0"/>
              <a:t>‹#›</a:t>
            </a:fld>
            <a:endParaRPr lang="en-IN"/>
          </a:p>
        </p:txBody>
      </p:sp>
      <p:sp>
        <p:nvSpPr>
          <p:cNvPr id="23" name="Title 22"/>
          <p:cNvSpPr>
            <a:spLocks noGrp="1"/>
          </p:cNvSpPr>
          <p:nvPr>
            <p:ph type="title"/>
          </p:nvPr>
        </p:nvSpPr>
        <p:spPr/>
        <p:txBody>
          <a:bodyPr rtlCol="0" anchor="b" anchorCtr="0"/>
          <a:lstStyle/>
          <a:p>
            <a:r>
              <a:rPr kumimoji="0" lang="en-US"/>
              <a:t>Click to edit Master title style</a:t>
            </a:r>
          </a:p>
        </p:txBody>
      </p:sp>
    </p:spTree>
    <p:extLst>
      <p:ext uri="{BB962C8B-B14F-4D97-AF65-F5344CB8AC3E}">
        <p14:creationId xmlns:p14="http://schemas.microsoft.com/office/powerpoint/2010/main" val="239560191"/>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6505AEA3-A8D5-4E16-BCAC-2C653DCDC4A7}" type="datetimeFigureOut">
              <a:rPr lang="en-IN" smtClean="0"/>
              <a:t>14-08-2026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a:xfrm>
            <a:off x="5791200" y="1036021"/>
            <a:ext cx="609600" cy="441325"/>
          </a:xfrm>
        </p:spPr>
        <p:txBody>
          <a:bodyPr/>
          <a:lstStyle/>
          <a:p>
            <a:fld id="{71FDA23C-B541-44D6-9891-6BB978909FF6}" type="slidenum">
              <a:rPr lang="en-IN" smtClean="0"/>
              <a:t>‹#›</a:t>
            </a:fld>
            <a:endParaRPr lang="en-IN"/>
          </a:p>
        </p:txBody>
      </p:sp>
    </p:spTree>
    <p:extLst>
      <p:ext uri="{BB962C8B-B14F-4D97-AF65-F5344CB8AC3E}">
        <p14:creationId xmlns:p14="http://schemas.microsoft.com/office/powerpoint/2010/main" val="2054159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5" name="Rectangle 4"/>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2" name="Date Placeholder 1"/>
          <p:cNvSpPr>
            <a:spLocks noGrp="1"/>
          </p:cNvSpPr>
          <p:nvPr>
            <p:ph type="dt" sz="half" idx="10"/>
          </p:nvPr>
        </p:nvSpPr>
        <p:spPr/>
        <p:txBody>
          <a:bodyPr/>
          <a:lstStyle/>
          <a:p>
            <a:fld id="{6505AEA3-A8D5-4E16-BCAC-2C653DCDC4A7}" type="datetimeFigureOut">
              <a:rPr lang="en-IN" smtClean="0"/>
              <a:t>14-08-2026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a:xfrm>
            <a:off x="5689600" y="6324600"/>
            <a:ext cx="812800" cy="441324"/>
          </a:xfrm>
        </p:spPr>
        <p:txBody>
          <a:bodyPr/>
          <a:lstStyle>
            <a:lvl1pPr>
              <a:defRPr>
                <a:solidFill>
                  <a:srgbClr val="FFFFFF"/>
                </a:solidFill>
              </a:defRPr>
            </a:lvl1pPr>
          </a:lstStyle>
          <a:p>
            <a:fld id="{71FDA23C-B541-44D6-9891-6BB978909FF6}" type="slidenum">
              <a:rPr lang="en-IN" smtClean="0"/>
              <a:t>‹#›</a:t>
            </a:fld>
            <a:endParaRPr lang="en-IN"/>
          </a:p>
        </p:txBody>
      </p:sp>
    </p:spTree>
    <p:extLst>
      <p:ext uri="{BB962C8B-B14F-4D97-AF65-F5344CB8AC3E}">
        <p14:creationId xmlns:p14="http://schemas.microsoft.com/office/powerpoint/2010/main" val="327950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508000" y="1981201"/>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7" name="Slide Number Placeholder 6"/>
          <p:cNvSpPr>
            <a:spLocks noGrp="1"/>
          </p:cNvSpPr>
          <p:nvPr>
            <p:ph type="sldNum" sz="quarter" idx="12"/>
          </p:nvPr>
        </p:nvSpPr>
        <p:spPr>
          <a:xfrm>
            <a:off x="1828800" y="312739"/>
            <a:ext cx="609600" cy="441325"/>
          </a:xfrm>
        </p:spPr>
        <p:txBody>
          <a:bodyPr/>
          <a:lstStyle>
            <a:lvl1pPr>
              <a:defRPr>
                <a:solidFill>
                  <a:schemeClr val="accent3">
                    <a:shade val="75000"/>
                  </a:schemeClr>
                </a:solidFill>
              </a:defRPr>
            </a:lvl1pPr>
          </a:lstStyle>
          <a:p>
            <a:fld id="{71FDA23C-B541-44D6-9891-6BB978909FF6}" type="slidenum">
              <a:rPr lang="en-IN" smtClean="0"/>
              <a:t>‹#›</a:t>
            </a:fld>
            <a:endParaRPr lang="en-IN"/>
          </a:p>
        </p:txBody>
      </p:sp>
      <p:sp>
        <p:nvSpPr>
          <p:cNvPr id="21" name="Rectangle 20"/>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5" name="Date Placeholder 4"/>
          <p:cNvSpPr>
            <a:spLocks noGrp="1"/>
          </p:cNvSpPr>
          <p:nvPr>
            <p:ph type="dt" sz="half" idx="10"/>
          </p:nvPr>
        </p:nvSpPr>
        <p:spPr/>
        <p:txBody>
          <a:bodyPr/>
          <a:lstStyle/>
          <a:p>
            <a:fld id="{6505AEA3-A8D5-4E16-BCAC-2C653DCDC4A7}" type="datetimeFigureOut">
              <a:rPr lang="en-IN" smtClean="0"/>
              <a:t>14-08-2026</a:t>
            </a:fld>
            <a:endParaRPr lang="en-IN"/>
          </a:p>
        </p:txBody>
      </p:sp>
      <p:sp>
        <p:nvSpPr>
          <p:cNvPr id="6" name="Footer Placeholder 5"/>
          <p:cNvSpPr>
            <a:spLocks noGrp="1"/>
          </p:cNvSpPr>
          <p:nvPr>
            <p:ph type="ftr" sz="quarter" idx="11"/>
          </p:nvPr>
        </p:nvSpPr>
        <p:spPr>
          <a:xfrm>
            <a:off x="402336" y="6410848"/>
            <a:ext cx="4511040" cy="365760"/>
          </a:xfrm>
        </p:spPr>
        <p:txBody>
          <a:bodyPr/>
          <a:lstStyle/>
          <a:p>
            <a:endParaRPr lang="en-IN"/>
          </a:p>
        </p:txBody>
      </p:sp>
    </p:spTree>
    <p:extLst>
      <p:ext uri="{BB962C8B-B14F-4D97-AF65-F5344CB8AC3E}">
        <p14:creationId xmlns:p14="http://schemas.microsoft.com/office/powerpoint/2010/main" val="2361593960"/>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7" name="Slide Number Placeholder 6"/>
          <p:cNvSpPr>
            <a:spLocks noGrp="1"/>
          </p:cNvSpPr>
          <p:nvPr>
            <p:ph type="sldNum" sz="quarter" idx="12"/>
          </p:nvPr>
        </p:nvSpPr>
        <p:spPr>
          <a:xfrm>
            <a:off x="1828800" y="312739"/>
            <a:ext cx="609600" cy="441325"/>
          </a:xfrm>
        </p:spPr>
        <p:txBody>
          <a:bodyPr/>
          <a:lstStyle/>
          <a:p>
            <a:fld id="{71FDA23C-B541-44D6-9891-6BB978909FF6}" type="slidenum">
              <a:rPr lang="en-IN" smtClean="0"/>
              <a:t>‹#›</a:t>
            </a:fld>
            <a:endParaRPr lang="en-IN"/>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5" name="Date Placeholder 4"/>
          <p:cNvSpPr>
            <a:spLocks noGrp="1"/>
          </p:cNvSpPr>
          <p:nvPr>
            <p:ph type="dt" sz="half" idx="10"/>
          </p:nvPr>
        </p:nvSpPr>
        <p:spPr>
          <a:xfrm>
            <a:off x="7717536" y="6404984"/>
            <a:ext cx="4059936" cy="365760"/>
          </a:xfrm>
        </p:spPr>
        <p:txBody>
          <a:bodyPr/>
          <a:lstStyle/>
          <a:p>
            <a:fld id="{6505AEA3-A8D5-4E16-BCAC-2C653DCDC4A7}" type="datetimeFigureOut">
              <a:rPr lang="en-IN" smtClean="0"/>
              <a:t>14-08-2026</a:t>
            </a:fld>
            <a:endParaRPr lang="en-IN"/>
          </a:p>
        </p:txBody>
      </p:sp>
      <p:sp>
        <p:nvSpPr>
          <p:cNvPr id="6" name="Footer Placeholder 5"/>
          <p:cNvSpPr>
            <a:spLocks noGrp="1"/>
          </p:cNvSpPr>
          <p:nvPr>
            <p:ph type="ftr" sz="quarter" idx="11"/>
          </p:nvPr>
        </p:nvSpPr>
        <p:spPr>
          <a:xfrm>
            <a:off x="402336" y="6410848"/>
            <a:ext cx="4779264" cy="365760"/>
          </a:xfrm>
        </p:spPr>
        <p:txBody>
          <a:bodyPr/>
          <a:lstStyle/>
          <a:p>
            <a:endParaRPr lang="en-IN"/>
          </a:p>
        </p:txBody>
      </p:sp>
    </p:spTree>
    <p:extLst>
      <p:ext uri="{BB962C8B-B14F-4D97-AF65-F5344CB8AC3E}">
        <p14:creationId xmlns:p14="http://schemas.microsoft.com/office/powerpoint/2010/main" val="1285268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505AEA3-A8D5-4E16-BCAC-2C653DCDC4A7}"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1FDA23C-B541-44D6-9891-6BB978909FF6}" type="slidenum">
              <a:rPr lang="en-IN" smtClean="0"/>
              <a:t>‹#›</a:t>
            </a:fld>
            <a:endParaRPr lang="en-IN"/>
          </a:p>
        </p:txBody>
      </p:sp>
    </p:spTree>
    <p:extLst>
      <p:ext uri="{BB962C8B-B14F-4D97-AF65-F5344CB8AC3E}">
        <p14:creationId xmlns:p14="http://schemas.microsoft.com/office/powerpoint/2010/main" val="7833199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1" name="Rectangle 10"/>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6" name="Slide Number Placeholder 5"/>
          <p:cNvSpPr>
            <a:spLocks noGrp="1"/>
          </p:cNvSpPr>
          <p:nvPr>
            <p:ph type="sldNum" sz="quarter" idx="12"/>
          </p:nvPr>
        </p:nvSpPr>
        <p:spPr>
          <a:xfrm>
            <a:off x="9221216" y="3009902"/>
            <a:ext cx="609600" cy="441325"/>
          </a:xfrm>
        </p:spPr>
        <p:txBody>
          <a:bodyPr/>
          <a:lstStyle/>
          <a:p>
            <a:fld id="{71FDA23C-B541-44D6-9891-6BB978909FF6}" type="slidenum">
              <a:rPr lang="en-IN" smtClean="0"/>
              <a:t>‹#›</a:t>
            </a:fld>
            <a:endParaRPr lang="en-IN"/>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505AEA3-A8D5-4E16-BCAC-2C653DCDC4A7}" type="datetimeFigureOut">
              <a:rPr lang="en-IN" smtClean="0"/>
              <a:t>14-08-2026</a:t>
            </a:fld>
            <a:endParaRPr lang="en-IN"/>
          </a:p>
        </p:txBody>
      </p:sp>
      <p:sp>
        <p:nvSpPr>
          <p:cNvPr id="5" name="Footer Placeholder 4"/>
          <p:cNvSpPr>
            <a:spLocks noGrp="1"/>
          </p:cNvSpPr>
          <p:nvPr>
            <p:ph type="ftr" sz="quarter" idx="11"/>
          </p:nvPr>
        </p:nvSpPr>
        <p:spPr/>
        <p:txBody>
          <a:bodyPr/>
          <a:lstStyle/>
          <a:p>
            <a:endParaRPr lang="en-IN"/>
          </a:p>
        </p:txBody>
      </p:sp>
      <p:sp>
        <p:nvSpPr>
          <p:cNvPr id="2" name="Vertical Title 1"/>
          <p:cNvSpPr>
            <a:spLocks noGrp="1"/>
          </p:cNvSpPr>
          <p:nvPr>
            <p:ph type="title" orient="vert"/>
          </p:nvPr>
        </p:nvSpPr>
        <p:spPr>
          <a:xfrm>
            <a:off x="9855200" y="304802"/>
            <a:ext cx="1930400" cy="5851525"/>
          </a:xfrm>
        </p:spPr>
        <p:txBody>
          <a:bodyPr vert="eaVert"/>
          <a:lstStyle/>
          <a:p>
            <a:r>
              <a:rPr kumimoji="0" lang="en-US"/>
              <a:t>Click to edit Master title style</a:t>
            </a:r>
          </a:p>
        </p:txBody>
      </p:sp>
    </p:spTree>
    <p:extLst>
      <p:ext uri="{BB962C8B-B14F-4D97-AF65-F5344CB8AC3E}">
        <p14:creationId xmlns:p14="http://schemas.microsoft.com/office/powerpoint/2010/main" val="271468726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6" name="Rectangle 15"/>
          <p:cNvSpPr>
            <a:spLocks noChangeArrowheads="1"/>
          </p:cNvSpPr>
          <p:nvPr/>
        </p:nvSpPr>
        <p:spPr bwMode="white">
          <a:xfrm>
            <a:off x="0" y="1"/>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9" name="Rectangle 8"/>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4" name="Date Placeholder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fld id="{6505AEA3-A8D5-4E16-BCAC-2C653DCDC4A7}" type="datetimeFigureOut">
              <a:rPr lang="en-IN" smtClean="0"/>
              <a:t>14-08-2026</a:t>
            </a:fld>
            <a:endParaRPr lang="en-IN"/>
          </a:p>
        </p:txBody>
      </p:sp>
      <p:sp>
        <p:nvSpPr>
          <p:cNvPr id="3" name="Footer Placeholder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endParaRPr lang="en-IN"/>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3" name="Slide Number Placeholder 22"/>
          <p:cNvSpPr>
            <a:spLocks noGrp="1"/>
          </p:cNvSpPr>
          <p:nvPr>
            <p:ph type="sldNum" sz="quarter" idx="4"/>
          </p:nvPr>
        </p:nvSpPr>
        <p:spPr>
          <a:xfrm>
            <a:off x="5791200" y="1040175"/>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71FDA23C-B541-44D6-9891-6BB978909FF6}" type="slidenum">
              <a:rPr lang="en-IN" smtClean="0"/>
              <a:t>‹#›</a:t>
            </a:fld>
            <a:endParaRPr lang="en-IN"/>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extLst>
      <p:ext uri="{BB962C8B-B14F-4D97-AF65-F5344CB8AC3E}">
        <p14:creationId xmlns:p14="http://schemas.microsoft.com/office/powerpoint/2010/main" val="7842746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A399B-A3B2-48E2-FC1A-40521FB8AF46}"/>
              </a:ext>
            </a:extLst>
          </p:cNvPr>
          <p:cNvSpPr>
            <a:spLocks noGrp="1"/>
          </p:cNvSpPr>
          <p:nvPr>
            <p:ph type="title"/>
          </p:nvPr>
        </p:nvSpPr>
        <p:spPr/>
        <p:txBody>
          <a:bodyPr/>
          <a:lstStyle/>
          <a:p>
            <a:r>
              <a:rPr lang="en-IN" sz="3600" b="1" dirty="0">
                <a:latin typeface="Calibri"/>
              </a:rPr>
              <a:t>Hospital Management System</a:t>
            </a:r>
            <a:endParaRPr lang="en-IN" dirty="0"/>
          </a:p>
        </p:txBody>
      </p:sp>
      <p:pic>
        <p:nvPicPr>
          <p:cNvPr id="5" name="Content Placeholder 4">
            <a:extLst>
              <a:ext uri="{FF2B5EF4-FFF2-40B4-BE49-F238E27FC236}">
                <a16:creationId xmlns:a16="http://schemas.microsoft.com/office/drawing/2014/main" id="{53799E1A-65DE-93B7-864C-0AEF6F3CF01B}"/>
              </a:ext>
            </a:extLst>
          </p:cNvPr>
          <p:cNvPicPr>
            <a:picLocks noGrp="1" noChangeAspect="1"/>
          </p:cNvPicPr>
          <p:nvPr>
            <p:ph sz="quarter" idx="1"/>
          </p:nvPr>
        </p:nvPicPr>
        <p:blipFill>
          <a:blip r:embed="rId2"/>
          <a:stretch>
            <a:fillRect/>
          </a:stretch>
        </p:blipFill>
        <p:spPr>
          <a:xfrm>
            <a:off x="2259824" y="1527175"/>
            <a:ext cx="7623139" cy="4372180"/>
          </a:xfrm>
          <a:prstGeom prst="rect">
            <a:avLst/>
          </a:prstGeom>
        </p:spPr>
      </p:pic>
      <p:sp>
        <p:nvSpPr>
          <p:cNvPr id="6" name="TextBox 5">
            <a:extLst>
              <a:ext uri="{FF2B5EF4-FFF2-40B4-BE49-F238E27FC236}">
                <a16:creationId xmlns:a16="http://schemas.microsoft.com/office/drawing/2014/main" id="{F97BE549-DD6B-281C-9DD8-E5BD8A27AC59}"/>
              </a:ext>
            </a:extLst>
          </p:cNvPr>
          <p:cNvSpPr txBox="1"/>
          <p:nvPr/>
        </p:nvSpPr>
        <p:spPr>
          <a:xfrm>
            <a:off x="8750710" y="6069646"/>
            <a:ext cx="3140603" cy="369332"/>
          </a:xfrm>
          <a:prstGeom prst="rect">
            <a:avLst/>
          </a:prstGeom>
          <a:noFill/>
        </p:spPr>
        <p:txBody>
          <a:bodyPr wrap="none" rtlCol="0">
            <a:spAutoFit/>
          </a:bodyPr>
          <a:lstStyle/>
          <a:p>
            <a:r>
              <a:rPr lang="en-US" dirty="0"/>
              <a:t>GOWTHAM REDDY AVULA</a:t>
            </a:r>
            <a:endParaRPr lang="en-IN" dirty="0"/>
          </a:p>
        </p:txBody>
      </p:sp>
    </p:spTree>
    <p:extLst>
      <p:ext uri="{BB962C8B-B14F-4D97-AF65-F5344CB8AC3E}">
        <p14:creationId xmlns:p14="http://schemas.microsoft.com/office/powerpoint/2010/main" val="377886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333B-343D-1114-D8F3-B8835DC0E3CD}"/>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8EDAF551-C175-5C81-E770-1CB02BD3096B}"/>
              </a:ext>
            </a:extLst>
          </p:cNvPr>
          <p:cNvSpPr>
            <a:spLocks noGrp="1"/>
          </p:cNvSpPr>
          <p:nvPr>
            <p:ph sz="quarter" idx="1"/>
          </p:nvPr>
        </p:nvSpPr>
        <p:spPr/>
        <p:txBody>
          <a:bodyPr>
            <a:normAutofit lnSpcReduction="10000"/>
          </a:bodyPr>
          <a:lstStyle/>
          <a:p>
            <a:r>
              <a:rPr lang="en-IN" dirty="0"/>
              <a:t>Hospital Management System is a structured relational database designed to manage the core operations of a hospital. It provides a robust framework for storing and retrieving information related to patients, doctors, appointments, medical records, treatments, billing, departments, and staff.</a:t>
            </a:r>
          </a:p>
          <a:p>
            <a:r>
              <a:rPr lang="en-IN" dirty="0"/>
              <a:t>The system has been developed using SQL (Structured Query Language) and follows a normalized relational model to ensure data integrity, consistency, security, and efficient querying. It helps streamline hospital operations, maintain accurate patient records, manage appointments and billing, and support effective healthcare management.</a:t>
            </a:r>
          </a:p>
          <a:p>
            <a:endParaRPr lang="en-IN" dirty="0"/>
          </a:p>
        </p:txBody>
      </p:sp>
    </p:spTree>
    <p:extLst>
      <p:ext uri="{BB962C8B-B14F-4D97-AF65-F5344CB8AC3E}">
        <p14:creationId xmlns:p14="http://schemas.microsoft.com/office/powerpoint/2010/main" val="173146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427F7-FF20-CBDD-BAA1-DE8368D1269E}"/>
              </a:ext>
            </a:extLst>
          </p:cNvPr>
          <p:cNvSpPr>
            <a:spLocks noGrp="1"/>
          </p:cNvSpPr>
          <p:nvPr>
            <p:ph type="title"/>
          </p:nvPr>
        </p:nvSpPr>
        <p:spPr/>
        <p:txBody>
          <a:bodyPr/>
          <a:lstStyle/>
          <a:p>
            <a:r>
              <a:rPr lang="en-IN" dirty="0"/>
              <a:t>FEATURES</a:t>
            </a:r>
          </a:p>
        </p:txBody>
      </p:sp>
      <p:sp>
        <p:nvSpPr>
          <p:cNvPr id="3" name="Content Placeholder 2">
            <a:extLst>
              <a:ext uri="{FF2B5EF4-FFF2-40B4-BE49-F238E27FC236}">
                <a16:creationId xmlns:a16="http://schemas.microsoft.com/office/drawing/2014/main" id="{3656105A-0ACF-A96F-1818-D12EF2FA3970}"/>
              </a:ext>
            </a:extLst>
          </p:cNvPr>
          <p:cNvSpPr>
            <a:spLocks noGrp="1"/>
          </p:cNvSpPr>
          <p:nvPr>
            <p:ph sz="quarter" idx="1"/>
          </p:nvPr>
        </p:nvSpPr>
        <p:spPr/>
        <p:txBody>
          <a:bodyPr>
            <a:normAutofit fontScale="77500" lnSpcReduction="20000"/>
          </a:bodyPr>
          <a:lstStyle/>
          <a:p>
            <a:r>
              <a:rPr lang="en-IN" b="1" dirty="0"/>
              <a:t>Department –</a:t>
            </a:r>
            <a:r>
              <a:rPr lang="en-IN" dirty="0"/>
              <a:t> Manages hospital departments and their head doctors.</a:t>
            </a:r>
            <a:br>
              <a:rPr lang="en-IN" dirty="0"/>
            </a:br>
            <a:r>
              <a:rPr lang="en-IN" b="1" dirty="0"/>
              <a:t>Patient –</a:t>
            </a:r>
            <a:r>
              <a:rPr lang="en-IN" dirty="0"/>
              <a:t> Stores patient personal, contact, admission, and discharge details.</a:t>
            </a:r>
            <a:br>
              <a:rPr lang="en-IN" dirty="0"/>
            </a:br>
            <a:r>
              <a:rPr lang="en-IN" b="1" dirty="0"/>
              <a:t>Doctor –</a:t>
            </a:r>
            <a:r>
              <a:rPr lang="en-IN" dirty="0"/>
              <a:t> Maintains doctor specialization, qualification, experience, and department details.</a:t>
            </a:r>
            <a:br>
              <a:rPr lang="en-IN" dirty="0"/>
            </a:br>
            <a:r>
              <a:rPr lang="en-IN" b="1" dirty="0"/>
              <a:t>Room –</a:t>
            </a:r>
            <a:r>
              <a:rPr lang="en-IN" dirty="0"/>
              <a:t> Manages room types, charges, floors, and availability.</a:t>
            </a:r>
            <a:br>
              <a:rPr lang="en-IN" dirty="0"/>
            </a:br>
            <a:r>
              <a:rPr lang="en-IN" b="1" dirty="0"/>
              <a:t>Appointment –</a:t>
            </a:r>
            <a:r>
              <a:rPr lang="en-IN" dirty="0"/>
              <a:t> Records patient appointments, visit types, status, and consultation fees.</a:t>
            </a:r>
            <a:br>
              <a:rPr lang="en-IN" dirty="0"/>
            </a:br>
            <a:r>
              <a:rPr lang="en-IN" b="1" dirty="0"/>
              <a:t>Admission –</a:t>
            </a:r>
            <a:r>
              <a:rPr lang="en-IN" dirty="0"/>
              <a:t> Tracks patient admissions, assigned doctors, rooms, and admission reasons.</a:t>
            </a:r>
            <a:br>
              <a:rPr lang="en-IN" dirty="0"/>
            </a:br>
            <a:r>
              <a:rPr lang="en-IN" b="1" dirty="0"/>
              <a:t>Medicine –</a:t>
            </a:r>
            <a:r>
              <a:rPr lang="en-IN" dirty="0"/>
              <a:t> Manages medicine details, prices, stock, manufacturers, and expiry dates.</a:t>
            </a:r>
            <a:br>
              <a:rPr lang="en-IN" dirty="0"/>
            </a:br>
            <a:r>
              <a:rPr lang="en-IN" b="1" dirty="0"/>
              <a:t>Prescription –</a:t>
            </a:r>
            <a:r>
              <a:rPr lang="en-IN" dirty="0"/>
              <a:t> Records medicines prescribed by doctors to patients.</a:t>
            </a:r>
            <a:br>
              <a:rPr lang="en-IN" dirty="0"/>
            </a:br>
            <a:r>
              <a:rPr lang="en-IN" b="1" dirty="0"/>
              <a:t>Billing –</a:t>
            </a:r>
            <a:r>
              <a:rPr lang="en-IN" dirty="0"/>
              <a:t> Manages hospital charges, discounts, total bills, and payment status.</a:t>
            </a:r>
            <a:br>
              <a:rPr lang="en-IN" dirty="0"/>
            </a:br>
            <a:r>
              <a:rPr lang="en-IN" b="1" dirty="0"/>
              <a:t>Laboratory Tests –</a:t>
            </a:r>
            <a:r>
              <a:rPr lang="en-IN" dirty="0"/>
              <a:t> Records tests, results, dates, and test costs.</a:t>
            </a:r>
            <a:br>
              <a:rPr lang="en-IN" dirty="0"/>
            </a:br>
            <a:r>
              <a:rPr lang="en-IN" b="1" dirty="0"/>
              <a:t>Hospital Staff –</a:t>
            </a:r>
            <a:r>
              <a:rPr lang="en-IN" dirty="0"/>
              <a:t> Manages staff roles, departments, salary, and shifts.</a:t>
            </a:r>
            <a:br>
              <a:rPr lang="en-IN" dirty="0"/>
            </a:br>
            <a:r>
              <a:rPr lang="en-IN" b="1" dirty="0"/>
              <a:t>Payments –</a:t>
            </a:r>
            <a:r>
              <a:rPr lang="en-IN" dirty="0"/>
              <a:t> Records payment methods, amounts, transaction IDs, and payment status.</a:t>
            </a:r>
            <a:br>
              <a:rPr lang="en-IN" dirty="0"/>
            </a:br>
            <a:r>
              <a:rPr lang="en-IN" b="1" dirty="0"/>
              <a:t>Nurses –</a:t>
            </a:r>
            <a:r>
              <a:rPr lang="en-IN" dirty="0"/>
              <a:t> Maintains nurse qualifications, experience, shifts, and salary details.</a:t>
            </a:r>
            <a:br>
              <a:rPr lang="en-IN" dirty="0"/>
            </a:br>
            <a:r>
              <a:rPr lang="en-IN" b="1" dirty="0"/>
              <a:t>Insurance –</a:t>
            </a:r>
            <a:r>
              <a:rPr lang="en-IN" dirty="0"/>
              <a:t> Tracks insurance policies, coverage, claims, and claim status.</a:t>
            </a:r>
          </a:p>
        </p:txBody>
      </p:sp>
    </p:spTree>
    <p:extLst>
      <p:ext uri="{BB962C8B-B14F-4D97-AF65-F5344CB8AC3E}">
        <p14:creationId xmlns:p14="http://schemas.microsoft.com/office/powerpoint/2010/main" val="1789457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1713D-A57C-37B7-D5AA-DFB99AF85E77}"/>
              </a:ext>
            </a:extLst>
          </p:cNvPr>
          <p:cNvSpPr>
            <a:spLocks noGrp="1"/>
          </p:cNvSpPr>
          <p:nvPr>
            <p:ph type="title"/>
          </p:nvPr>
        </p:nvSpPr>
        <p:spPr/>
        <p:txBody>
          <a:bodyPr/>
          <a:lstStyle/>
          <a:p>
            <a:r>
              <a:rPr lang="en-IN" sz="3600" dirty="0">
                <a:latin typeface="Times New Roman" panose="02020603050405020304" pitchFamily="18" charset="0"/>
                <a:cs typeface="Times New Roman" panose="02020603050405020304" pitchFamily="18" charset="0"/>
              </a:rPr>
              <a:t>ER Diagram </a:t>
            </a:r>
            <a:endParaRPr lang="en-IN" dirty="0"/>
          </a:p>
        </p:txBody>
      </p:sp>
      <p:pic>
        <p:nvPicPr>
          <p:cNvPr id="5" name="Content Placeholder 4">
            <a:extLst>
              <a:ext uri="{FF2B5EF4-FFF2-40B4-BE49-F238E27FC236}">
                <a16:creationId xmlns:a16="http://schemas.microsoft.com/office/drawing/2014/main" id="{1F63E351-4AE2-A870-C9B1-93DFF22D3C0A}"/>
              </a:ext>
            </a:extLst>
          </p:cNvPr>
          <p:cNvPicPr>
            <a:picLocks noGrp="1" noChangeAspect="1"/>
          </p:cNvPicPr>
          <p:nvPr>
            <p:ph sz="quarter" idx="1"/>
          </p:nvPr>
        </p:nvPicPr>
        <p:blipFill>
          <a:blip r:embed="rId2"/>
          <a:stretch>
            <a:fillRect/>
          </a:stretch>
        </p:blipFill>
        <p:spPr>
          <a:xfrm>
            <a:off x="2005781" y="1527174"/>
            <a:ext cx="8721213" cy="4844129"/>
          </a:xfrm>
          <a:prstGeom prst="rect">
            <a:avLst/>
          </a:prstGeom>
        </p:spPr>
      </p:pic>
    </p:spTree>
    <p:extLst>
      <p:ext uri="{BB962C8B-B14F-4D97-AF65-F5344CB8AC3E}">
        <p14:creationId xmlns:p14="http://schemas.microsoft.com/office/powerpoint/2010/main" val="4068243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14A89-1639-0AE6-244C-43B7F4415582}"/>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How to Create Database  And Table </a:t>
            </a:r>
            <a:endParaRPr lang="en-IN" dirty="0"/>
          </a:p>
        </p:txBody>
      </p:sp>
      <p:sp>
        <p:nvSpPr>
          <p:cNvPr id="3" name="Content Placeholder 2">
            <a:extLst>
              <a:ext uri="{FF2B5EF4-FFF2-40B4-BE49-F238E27FC236}">
                <a16:creationId xmlns:a16="http://schemas.microsoft.com/office/drawing/2014/main" id="{F65DCF38-8CBE-7B87-EB44-166C9D769CC2}"/>
              </a:ext>
            </a:extLst>
          </p:cNvPr>
          <p:cNvSpPr>
            <a:spLocks noGrp="1"/>
          </p:cNvSpPr>
          <p:nvPr>
            <p:ph sz="quarter" idx="1"/>
          </p:nvPr>
        </p:nvSpPr>
        <p:spPr>
          <a:xfrm>
            <a:off x="402336" y="1527048"/>
            <a:ext cx="11338560" cy="4962242"/>
          </a:xfrm>
        </p:spPr>
        <p:txBody>
          <a:bodyPr/>
          <a:lstStyle/>
          <a:p>
            <a:r>
              <a:rPr lang="en-US" dirty="0"/>
              <a:t>create schema </a:t>
            </a:r>
            <a:r>
              <a:rPr lang="en-US" dirty="0" err="1"/>
              <a:t>Hospital_Management_System</a:t>
            </a:r>
            <a:r>
              <a:rPr lang="en-US" dirty="0"/>
              <a:t>;</a:t>
            </a:r>
          </a:p>
          <a:p>
            <a:r>
              <a:rPr lang="en-US" dirty="0"/>
              <a:t>use </a:t>
            </a:r>
            <a:r>
              <a:rPr lang="en-US" dirty="0" err="1"/>
              <a:t>Hospital_Management_System</a:t>
            </a:r>
            <a:r>
              <a:rPr lang="en-US" dirty="0"/>
              <a:t>;</a:t>
            </a:r>
          </a:p>
          <a:p>
            <a:r>
              <a:rPr lang="en-US" dirty="0"/>
              <a:t>CREATE TABLE Departments (  </a:t>
            </a:r>
            <a:r>
              <a:rPr lang="en-US" dirty="0" err="1"/>
              <a:t>department_id</a:t>
            </a:r>
            <a:r>
              <a:rPr lang="en-US" dirty="0"/>
              <a:t> INT AUTO_INCREMENT PRIMARY KEY,    </a:t>
            </a:r>
            <a:r>
              <a:rPr lang="en-US" dirty="0" err="1"/>
              <a:t>department_name</a:t>
            </a:r>
            <a:r>
              <a:rPr lang="en-US" dirty="0"/>
              <a:t> VARCHAR(100) NOT NULL UNIQUE,    </a:t>
            </a:r>
            <a:r>
              <a:rPr lang="en-US" dirty="0" err="1"/>
              <a:t>floor_no</a:t>
            </a:r>
            <a:r>
              <a:rPr lang="en-US" dirty="0"/>
              <a:t> INT NOT NULL,    </a:t>
            </a:r>
            <a:r>
              <a:rPr lang="en-US" dirty="0" err="1"/>
              <a:t>head_doctor</a:t>
            </a:r>
            <a:r>
              <a:rPr lang="en-US" dirty="0"/>
              <a:t> VARCHAR(100));</a:t>
            </a:r>
          </a:p>
          <a:p>
            <a:endParaRPr lang="en-IN" dirty="0"/>
          </a:p>
        </p:txBody>
      </p:sp>
      <p:pic>
        <p:nvPicPr>
          <p:cNvPr id="7" name="Picture 6">
            <a:extLst>
              <a:ext uri="{FF2B5EF4-FFF2-40B4-BE49-F238E27FC236}">
                <a16:creationId xmlns:a16="http://schemas.microsoft.com/office/drawing/2014/main" id="{FB155970-3B92-415C-9013-05DB4F675307}"/>
              </a:ext>
            </a:extLst>
          </p:cNvPr>
          <p:cNvPicPr>
            <a:picLocks noChangeAspect="1"/>
          </p:cNvPicPr>
          <p:nvPr/>
        </p:nvPicPr>
        <p:blipFill>
          <a:blip r:embed="rId2"/>
          <a:stretch>
            <a:fillRect/>
          </a:stretch>
        </p:blipFill>
        <p:spPr>
          <a:xfrm>
            <a:off x="6312631" y="4778992"/>
            <a:ext cx="3932261" cy="4656903"/>
          </a:xfrm>
          <a:prstGeom prst="rect">
            <a:avLst/>
          </a:prstGeom>
        </p:spPr>
      </p:pic>
      <p:pic>
        <p:nvPicPr>
          <p:cNvPr id="9" name="Picture 8">
            <a:extLst>
              <a:ext uri="{FF2B5EF4-FFF2-40B4-BE49-F238E27FC236}">
                <a16:creationId xmlns:a16="http://schemas.microsoft.com/office/drawing/2014/main" id="{86A2AC51-08D3-3C3B-0CC7-2A8B54D016AF}"/>
              </a:ext>
            </a:extLst>
          </p:cNvPr>
          <p:cNvPicPr>
            <a:picLocks noChangeAspect="1"/>
          </p:cNvPicPr>
          <p:nvPr/>
        </p:nvPicPr>
        <p:blipFill>
          <a:blip r:embed="rId3"/>
          <a:stretch>
            <a:fillRect/>
          </a:stretch>
        </p:blipFill>
        <p:spPr>
          <a:xfrm>
            <a:off x="2629497" y="4232581"/>
            <a:ext cx="2187130" cy="1912786"/>
          </a:xfrm>
          <a:prstGeom prst="rect">
            <a:avLst/>
          </a:prstGeom>
        </p:spPr>
      </p:pic>
    </p:spTree>
    <p:extLst>
      <p:ext uri="{BB962C8B-B14F-4D97-AF65-F5344CB8AC3E}">
        <p14:creationId xmlns:p14="http://schemas.microsoft.com/office/powerpoint/2010/main" val="609425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95F2C-11FB-1598-9A07-ABE755E8DA1A}"/>
              </a:ext>
            </a:extLst>
          </p:cNvPr>
          <p:cNvSpPr>
            <a:spLocks noGrp="1"/>
          </p:cNvSpPr>
          <p:nvPr>
            <p:ph type="title"/>
          </p:nvPr>
        </p:nvSpPr>
        <p:spPr/>
        <p:txBody>
          <a:bodyPr/>
          <a:lstStyle/>
          <a:p>
            <a:r>
              <a:rPr lang="en-US" dirty="0"/>
              <a:t> How to Insert values in a table</a:t>
            </a:r>
            <a:endParaRPr lang="en-IN" dirty="0"/>
          </a:p>
        </p:txBody>
      </p:sp>
      <p:sp>
        <p:nvSpPr>
          <p:cNvPr id="3" name="Content Placeholder 2">
            <a:extLst>
              <a:ext uri="{FF2B5EF4-FFF2-40B4-BE49-F238E27FC236}">
                <a16:creationId xmlns:a16="http://schemas.microsoft.com/office/drawing/2014/main" id="{B66C6537-B293-FA70-F411-A1873BE9D902}"/>
              </a:ext>
            </a:extLst>
          </p:cNvPr>
          <p:cNvSpPr>
            <a:spLocks noGrp="1"/>
          </p:cNvSpPr>
          <p:nvPr>
            <p:ph sz="quarter" idx="1"/>
          </p:nvPr>
        </p:nvSpPr>
        <p:spPr>
          <a:xfrm>
            <a:off x="402336" y="1359899"/>
            <a:ext cx="11338560" cy="4863919"/>
          </a:xfrm>
        </p:spPr>
        <p:txBody>
          <a:bodyPr>
            <a:normAutofit/>
          </a:bodyPr>
          <a:lstStyle/>
          <a:p>
            <a:r>
              <a:rPr lang="en-IN" dirty="0"/>
              <a:t>INSERT INTO Departments (</a:t>
            </a:r>
            <a:r>
              <a:rPr lang="en-IN" dirty="0" err="1"/>
              <a:t>department_id</a:t>
            </a:r>
            <a:r>
              <a:rPr lang="en-IN" dirty="0"/>
              <a:t>, </a:t>
            </a:r>
            <a:r>
              <a:rPr lang="en-IN" dirty="0" err="1"/>
              <a:t>department_name</a:t>
            </a:r>
            <a:r>
              <a:rPr lang="en-IN" dirty="0"/>
              <a:t>, </a:t>
            </a:r>
            <a:r>
              <a:rPr lang="en-IN" dirty="0" err="1"/>
              <a:t>floor_no</a:t>
            </a:r>
            <a:r>
              <a:rPr lang="en-IN" dirty="0"/>
              <a:t>, </a:t>
            </a:r>
            <a:r>
              <a:rPr lang="en-IN" dirty="0" err="1"/>
              <a:t>head_doctor</a:t>
            </a:r>
            <a:r>
              <a:rPr lang="en-IN" dirty="0"/>
              <a:t>) VALUES(1, 'Cardiology', 1, 'Dr. Rajesh Kumar'),(2, 'Neurology', 2, 'Dr. Priya Sharma'),(3, '</a:t>
            </a:r>
            <a:r>
              <a:rPr lang="en-IN" dirty="0" err="1"/>
              <a:t>Orthopedics</a:t>
            </a:r>
            <a:r>
              <a:rPr lang="en-IN" dirty="0"/>
              <a:t>', 3, 'Dr. Amit Verma'),(4, '</a:t>
            </a:r>
            <a:r>
              <a:rPr lang="en-IN" dirty="0" err="1"/>
              <a:t>Pediatrics</a:t>
            </a:r>
            <a:r>
              <a:rPr lang="en-IN" dirty="0"/>
              <a:t>', 2, 'Dr. Sneha Reddy'),(5, 'Dermatology', 4, 'Dr. Kiran Patel'),(6, 'ENT', 3, 'Dr. Suresh Rao’);</a:t>
            </a:r>
          </a:p>
          <a:p>
            <a:endParaRPr lang="en-IN" dirty="0"/>
          </a:p>
        </p:txBody>
      </p:sp>
      <p:pic>
        <p:nvPicPr>
          <p:cNvPr id="5" name="Picture 4">
            <a:extLst>
              <a:ext uri="{FF2B5EF4-FFF2-40B4-BE49-F238E27FC236}">
                <a16:creationId xmlns:a16="http://schemas.microsoft.com/office/drawing/2014/main" id="{BD9B595E-F4B0-CC48-D989-F240C1758465}"/>
              </a:ext>
            </a:extLst>
          </p:cNvPr>
          <p:cNvPicPr>
            <a:picLocks noChangeAspect="1"/>
          </p:cNvPicPr>
          <p:nvPr/>
        </p:nvPicPr>
        <p:blipFill>
          <a:blip r:embed="rId3"/>
          <a:stretch>
            <a:fillRect/>
          </a:stretch>
        </p:blipFill>
        <p:spPr>
          <a:xfrm>
            <a:off x="4058592" y="3732832"/>
            <a:ext cx="3779848" cy="2896568"/>
          </a:xfrm>
          <a:prstGeom prst="rect">
            <a:avLst/>
          </a:prstGeom>
        </p:spPr>
      </p:pic>
    </p:spTree>
    <p:extLst>
      <p:ext uri="{BB962C8B-B14F-4D97-AF65-F5344CB8AC3E}">
        <p14:creationId xmlns:p14="http://schemas.microsoft.com/office/powerpoint/2010/main" val="111219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FCCC9-D51D-DAA7-8450-69A5693B0AD9}"/>
              </a:ext>
            </a:extLst>
          </p:cNvPr>
          <p:cNvSpPr>
            <a:spLocks noGrp="1"/>
          </p:cNvSpPr>
          <p:nvPr>
            <p:ph type="title"/>
          </p:nvPr>
        </p:nvSpPr>
        <p:spPr/>
        <p:txBody>
          <a:bodyPr/>
          <a:lstStyle/>
          <a:p>
            <a:r>
              <a:rPr lang="en-US" dirty="0"/>
              <a:t>Find the Top 5 Highest Paid Doctors</a:t>
            </a:r>
            <a:endParaRPr lang="en-IN" dirty="0"/>
          </a:p>
        </p:txBody>
      </p:sp>
      <p:sp>
        <p:nvSpPr>
          <p:cNvPr id="3" name="Content Placeholder 2">
            <a:extLst>
              <a:ext uri="{FF2B5EF4-FFF2-40B4-BE49-F238E27FC236}">
                <a16:creationId xmlns:a16="http://schemas.microsoft.com/office/drawing/2014/main" id="{D25A6231-3EAB-632A-1607-A65CE86CF44F}"/>
              </a:ext>
            </a:extLst>
          </p:cNvPr>
          <p:cNvSpPr>
            <a:spLocks noGrp="1"/>
          </p:cNvSpPr>
          <p:nvPr>
            <p:ph sz="quarter" idx="1"/>
          </p:nvPr>
        </p:nvSpPr>
        <p:spPr/>
        <p:txBody>
          <a:bodyPr/>
          <a:lstStyle/>
          <a:p>
            <a:r>
              <a:rPr lang="en-IN" dirty="0"/>
              <a:t>SELECT </a:t>
            </a:r>
            <a:r>
              <a:rPr lang="en-IN" dirty="0" err="1"/>
              <a:t>d.doctor_name,d.doctor_id</a:t>
            </a:r>
            <a:r>
              <a:rPr lang="en-IN" dirty="0"/>
              <a:t>,  </a:t>
            </a:r>
            <a:r>
              <a:rPr lang="en-IN" dirty="0" err="1"/>
              <a:t>dep.department_name</a:t>
            </a:r>
            <a:r>
              <a:rPr lang="en-IN" dirty="0"/>
              <a:t>,   </a:t>
            </a:r>
            <a:r>
              <a:rPr lang="en-IN" dirty="0" err="1"/>
              <a:t>s.net_salary</a:t>
            </a:r>
            <a:r>
              <a:rPr lang="en-IN" dirty="0"/>
              <a:t> FROM Doctors d JOIN Salary s    ON </a:t>
            </a:r>
            <a:r>
              <a:rPr lang="en-IN" dirty="0" err="1"/>
              <a:t>d.doctor_id</a:t>
            </a:r>
            <a:r>
              <a:rPr lang="en-IN" dirty="0"/>
              <a:t> = </a:t>
            </a:r>
            <a:r>
              <a:rPr lang="en-IN" dirty="0" err="1"/>
              <a:t>s.doctor_id</a:t>
            </a:r>
            <a:r>
              <a:rPr lang="en-IN" dirty="0"/>
              <a:t> JOIN Departments dep    ON </a:t>
            </a:r>
            <a:r>
              <a:rPr lang="en-IN" dirty="0" err="1"/>
              <a:t>d.department_id</a:t>
            </a:r>
            <a:r>
              <a:rPr lang="en-IN" dirty="0"/>
              <a:t> = </a:t>
            </a:r>
            <a:r>
              <a:rPr lang="en-IN" dirty="0" err="1"/>
              <a:t>dep.department_id</a:t>
            </a:r>
            <a:r>
              <a:rPr lang="en-IN" dirty="0"/>
              <a:t> ORDER BY </a:t>
            </a:r>
            <a:r>
              <a:rPr lang="en-IN" dirty="0" err="1"/>
              <a:t>s.net_salary</a:t>
            </a:r>
            <a:r>
              <a:rPr lang="en-IN" dirty="0"/>
              <a:t> DESCLIMIT 5;</a:t>
            </a:r>
          </a:p>
        </p:txBody>
      </p:sp>
      <p:pic>
        <p:nvPicPr>
          <p:cNvPr id="5" name="Picture 4">
            <a:extLst>
              <a:ext uri="{FF2B5EF4-FFF2-40B4-BE49-F238E27FC236}">
                <a16:creationId xmlns:a16="http://schemas.microsoft.com/office/drawing/2014/main" id="{48E5CCBB-F986-AEDF-9EB5-6FF48CF2A89B}"/>
              </a:ext>
            </a:extLst>
          </p:cNvPr>
          <p:cNvPicPr>
            <a:picLocks noChangeAspect="1"/>
          </p:cNvPicPr>
          <p:nvPr/>
        </p:nvPicPr>
        <p:blipFill>
          <a:blip r:embed="rId2"/>
          <a:stretch>
            <a:fillRect/>
          </a:stretch>
        </p:blipFill>
        <p:spPr>
          <a:xfrm>
            <a:off x="4121995" y="3875406"/>
            <a:ext cx="3939881" cy="1455546"/>
          </a:xfrm>
          <a:prstGeom prst="rect">
            <a:avLst/>
          </a:prstGeom>
        </p:spPr>
      </p:pic>
    </p:spTree>
    <p:extLst>
      <p:ext uri="{BB962C8B-B14F-4D97-AF65-F5344CB8AC3E}">
        <p14:creationId xmlns:p14="http://schemas.microsoft.com/office/powerpoint/2010/main" val="2532901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2255A-F6D8-469D-B06D-CB9201A95FFA}"/>
              </a:ext>
            </a:extLst>
          </p:cNvPr>
          <p:cNvSpPr>
            <a:spLocks noGrp="1"/>
          </p:cNvSpPr>
          <p:nvPr>
            <p:ph type="title"/>
          </p:nvPr>
        </p:nvSpPr>
        <p:spPr/>
        <p:txBody>
          <a:bodyPr/>
          <a:lstStyle/>
          <a:p>
            <a:r>
              <a:rPr lang="en-IN" dirty="0"/>
              <a:t>Department-wise Revenue</a:t>
            </a:r>
          </a:p>
        </p:txBody>
      </p:sp>
      <p:sp>
        <p:nvSpPr>
          <p:cNvPr id="3" name="Content Placeholder 2">
            <a:extLst>
              <a:ext uri="{FF2B5EF4-FFF2-40B4-BE49-F238E27FC236}">
                <a16:creationId xmlns:a16="http://schemas.microsoft.com/office/drawing/2014/main" id="{CFC5796D-1E25-4C84-45B0-582C56F84F97}"/>
              </a:ext>
            </a:extLst>
          </p:cNvPr>
          <p:cNvSpPr>
            <a:spLocks noGrp="1"/>
          </p:cNvSpPr>
          <p:nvPr>
            <p:ph sz="quarter" idx="1"/>
          </p:nvPr>
        </p:nvSpPr>
        <p:spPr>
          <a:xfrm>
            <a:off x="402336" y="1527047"/>
            <a:ext cx="11338560" cy="4893417"/>
          </a:xfrm>
        </p:spPr>
        <p:txBody>
          <a:bodyPr/>
          <a:lstStyle/>
          <a:p>
            <a:r>
              <a:rPr lang="en-IN" dirty="0"/>
              <a:t>SELECT </a:t>
            </a:r>
            <a:r>
              <a:rPr lang="en-IN" dirty="0" err="1"/>
              <a:t>dep.department_name</a:t>
            </a:r>
            <a:r>
              <a:rPr lang="en-IN" dirty="0"/>
              <a:t>,   SUM(</a:t>
            </a:r>
            <a:r>
              <a:rPr lang="en-IN" dirty="0" err="1"/>
              <a:t>b.total_amount</a:t>
            </a:r>
            <a:r>
              <a:rPr lang="en-IN" dirty="0"/>
              <a:t>) AS </a:t>
            </a:r>
            <a:r>
              <a:rPr lang="en-IN" dirty="0" err="1"/>
              <a:t>Total_Revenue</a:t>
            </a:r>
            <a:r>
              <a:rPr lang="en-IN" dirty="0"/>
              <a:t> FROM Bills b JOIN Admissions a    ON </a:t>
            </a:r>
            <a:r>
              <a:rPr lang="en-IN" dirty="0" err="1"/>
              <a:t>b.admission_id</a:t>
            </a:r>
            <a:r>
              <a:rPr lang="en-IN" dirty="0"/>
              <a:t> = </a:t>
            </a:r>
            <a:r>
              <a:rPr lang="en-IN" dirty="0" err="1"/>
              <a:t>a.admission_id</a:t>
            </a:r>
            <a:r>
              <a:rPr lang="en-IN" dirty="0"/>
              <a:t>  JOIN Doctors d   ON </a:t>
            </a:r>
            <a:r>
              <a:rPr lang="en-IN" dirty="0" err="1"/>
              <a:t>a.doctor_id</a:t>
            </a:r>
            <a:r>
              <a:rPr lang="en-IN" dirty="0"/>
              <a:t> = </a:t>
            </a:r>
            <a:r>
              <a:rPr lang="en-IN" dirty="0" err="1"/>
              <a:t>d.doctor_id</a:t>
            </a:r>
            <a:r>
              <a:rPr lang="en-IN" dirty="0"/>
              <a:t> JOIN Departments dep    ON </a:t>
            </a:r>
            <a:r>
              <a:rPr lang="en-IN" dirty="0" err="1"/>
              <a:t>d.department_id</a:t>
            </a:r>
            <a:r>
              <a:rPr lang="en-IN" dirty="0"/>
              <a:t> = </a:t>
            </a:r>
            <a:r>
              <a:rPr lang="en-IN" dirty="0" err="1"/>
              <a:t>dep.department_id</a:t>
            </a:r>
            <a:r>
              <a:rPr lang="en-IN" dirty="0"/>
              <a:t> GROUP BY </a:t>
            </a:r>
            <a:r>
              <a:rPr lang="en-IN" dirty="0" err="1"/>
              <a:t>dep.department_name</a:t>
            </a:r>
            <a:r>
              <a:rPr lang="en-IN" dirty="0"/>
              <a:t> ORDER BY </a:t>
            </a:r>
            <a:r>
              <a:rPr lang="en-IN" dirty="0" err="1"/>
              <a:t>Total_Revenue</a:t>
            </a:r>
            <a:r>
              <a:rPr lang="en-IN" dirty="0"/>
              <a:t> DESC;</a:t>
            </a:r>
          </a:p>
        </p:txBody>
      </p:sp>
      <p:pic>
        <p:nvPicPr>
          <p:cNvPr id="5" name="Picture 4">
            <a:extLst>
              <a:ext uri="{FF2B5EF4-FFF2-40B4-BE49-F238E27FC236}">
                <a16:creationId xmlns:a16="http://schemas.microsoft.com/office/drawing/2014/main" id="{74C693A8-0F04-993B-C4F7-01C255ADDD14}"/>
              </a:ext>
            </a:extLst>
          </p:cNvPr>
          <p:cNvPicPr>
            <a:picLocks noChangeAspect="1"/>
          </p:cNvPicPr>
          <p:nvPr/>
        </p:nvPicPr>
        <p:blipFill>
          <a:blip r:embed="rId2"/>
          <a:stretch>
            <a:fillRect/>
          </a:stretch>
        </p:blipFill>
        <p:spPr>
          <a:xfrm>
            <a:off x="4456036" y="3771851"/>
            <a:ext cx="3231160" cy="3012527"/>
          </a:xfrm>
          <a:prstGeom prst="rect">
            <a:avLst/>
          </a:prstGeom>
        </p:spPr>
      </p:pic>
    </p:spTree>
    <p:extLst>
      <p:ext uri="{BB962C8B-B14F-4D97-AF65-F5344CB8AC3E}">
        <p14:creationId xmlns:p14="http://schemas.microsoft.com/office/powerpoint/2010/main" val="1845857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FA149-6AEA-F1BE-6E20-6A4A950EE7DD}"/>
              </a:ext>
            </a:extLst>
          </p:cNvPr>
          <p:cNvSpPr>
            <a:spLocks noGrp="1"/>
          </p:cNvSpPr>
          <p:nvPr>
            <p:ph type="title"/>
          </p:nvPr>
        </p:nvSpPr>
        <p:spPr/>
        <p:txBody>
          <a:bodyPr/>
          <a:lstStyle/>
          <a:p>
            <a:r>
              <a:rPr lang="en-US" dirty="0"/>
              <a:t>Doctors Earning Above Average Salary</a:t>
            </a:r>
            <a:endParaRPr lang="en-IN" dirty="0"/>
          </a:p>
        </p:txBody>
      </p:sp>
      <p:sp>
        <p:nvSpPr>
          <p:cNvPr id="3" name="Content Placeholder 2">
            <a:extLst>
              <a:ext uri="{FF2B5EF4-FFF2-40B4-BE49-F238E27FC236}">
                <a16:creationId xmlns:a16="http://schemas.microsoft.com/office/drawing/2014/main" id="{D56BAFE0-7B4A-B2EF-053E-175D97438EA4}"/>
              </a:ext>
            </a:extLst>
          </p:cNvPr>
          <p:cNvSpPr>
            <a:spLocks noGrp="1"/>
          </p:cNvSpPr>
          <p:nvPr>
            <p:ph sz="quarter" idx="1"/>
          </p:nvPr>
        </p:nvSpPr>
        <p:spPr/>
        <p:txBody>
          <a:bodyPr/>
          <a:lstStyle/>
          <a:p>
            <a:r>
              <a:rPr lang="en-IN" dirty="0"/>
              <a:t>SELECT </a:t>
            </a:r>
            <a:r>
              <a:rPr lang="en-IN" dirty="0" err="1"/>
              <a:t>d.doctor_name</a:t>
            </a:r>
            <a:r>
              <a:rPr lang="en-IN" dirty="0"/>
              <a:t>, </a:t>
            </a:r>
            <a:r>
              <a:rPr lang="en-IN" dirty="0" err="1"/>
              <a:t>d.doctor_id</a:t>
            </a:r>
            <a:r>
              <a:rPr lang="en-IN" dirty="0"/>
              <a:t>,   </a:t>
            </a:r>
            <a:r>
              <a:rPr lang="en-IN" dirty="0" err="1"/>
              <a:t>s.net_salary</a:t>
            </a:r>
            <a:r>
              <a:rPr lang="en-IN" dirty="0"/>
              <a:t> FROM Doctors d JOIN Salary s ON </a:t>
            </a:r>
            <a:r>
              <a:rPr lang="en-IN" dirty="0" err="1"/>
              <a:t>d.doctor_id</a:t>
            </a:r>
            <a:r>
              <a:rPr lang="en-IN" dirty="0"/>
              <a:t>=</a:t>
            </a:r>
            <a:r>
              <a:rPr lang="en-IN" dirty="0" err="1"/>
              <a:t>s.doctor_id</a:t>
            </a:r>
            <a:r>
              <a:rPr lang="en-IN" dirty="0"/>
              <a:t> WHERE </a:t>
            </a:r>
            <a:r>
              <a:rPr lang="en-IN" dirty="0" err="1"/>
              <a:t>s.net_salary</a:t>
            </a:r>
            <a:r>
              <a:rPr lang="en-IN" dirty="0"/>
              <a:t> &gt;(SELECT AVG(</a:t>
            </a:r>
            <a:r>
              <a:rPr lang="en-IN" dirty="0" err="1"/>
              <a:t>net_salary</a:t>
            </a:r>
            <a:r>
              <a:rPr lang="en-IN" dirty="0"/>
              <a:t>)FROM Salary);</a:t>
            </a:r>
          </a:p>
        </p:txBody>
      </p:sp>
      <p:pic>
        <p:nvPicPr>
          <p:cNvPr id="5" name="Picture 4">
            <a:extLst>
              <a:ext uri="{FF2B5EF4-FFF2-40B4-BE49-F238E27FC236}">
                <a16:creationId xmlns:a16="http://schemas.microsoft.com/office/drawing/2014/main" id="{84CCC047-E7F0-4FC3-CE6B-6FC628063C56}"/>
              </a:ext>
            </a:extLst>
          </p:cNvPr>
          <p:cNvPicPr>
            <a:picLocks noChangeAspect="1"/>
          </p:cNvPicPr>
          <p:nvPr/>
        </p:nvPicPr>
        <p:blipFill>
          <a:blip r:embed="rId2"/>
          <a:stretch>
            <a:fillRect/>
          </a:stretch>
        </p:blipFill>
        <p:spPr>
          <a:xfrm>
            <a:off x="4689734" y="2860175"/>
            <a:ext cx="2804403" cy="3469505"/>
          </a:xfrm>
          <a:prstGeom prst="rect">
            <a:avLst/>
          </a:prstGeom>
        </p:spPr>
      </p:pic>
    </p:spTree>
    <p:extLst>
      <p:ext uri="{BB962C8B-B14F-4D97-AF65-F5344CB8AC3E}">
        <p14:creationId xmlns:p14="http://schemas.microsoft.com/office/powerpoint/2010/main" val="1170723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11602-969A-4967-EBD0-4DBD0E2A1283}"/>
              </a:ext>
            </a:extLst>
          </p:cNvPr>
          <p:cNvSpPr>
            <a:spLocks noGrp="1"/>
          </p:cNvSpPr>
          <p:nvPr>
            <p:ph type="title"/>
          </p:nvPr>
        </p:nvSpPr>
        <p:spPr/>
        <p:txBody>
          <a:bodyPr/>
          <a:lstStyle/>
          <a:p>
            <a:r>
              <a:rPr lang="en-IN" dirty="0"/>
              <a:t>Patients with Pending Bills</a:t>
            </a:r>
          </a:p>
        </p:txBody>
      </p:sp>
      <p:pic>
        <p:nvPicPr>
          <p:cNvPr id="5" name="Content Placeholder 4">
            <a:extLst>
              <a:ext uri="{FF2B5EF4-FFF2-40B4-BE49-F238E27FC236}">
                <a16:creationId xmlns:a16="http://schemas.microsoft.com/office/drawing/2014/main" id="{9F0CB7E8-1C2D-02FA-E4FB-3B302A70FD71}"/>
              </a:ext>
            </a:extLst>
          </p:cNvPr>
          <p:cNvPicPr>
            <a:picLocks noGrp="1" noChangeAspect="1"/>
          </p:cNvPicPr>
          <p:nvPr>
            <p:ph sz="quarter" idx="1"/>
          </p:nvPr>
        </p:nvPicPr>
        <p:blipFill>
          <a:blip r:embed="rId2"/>
          <a:stretch>
            <a:fillRect/>
          </a:stretch>
        </p:blipFill>
        <p:spPr>
          <a:xfrm>
            <a:off x="3227897" y="3797857"/>
            <a:ext cx="4366638" cy="1798476"/>
          </a:xfrm>
          <a:prstGeom prst="rect">
            <a:avLst/>
          </a:prstGeom>
        </p:spPr>
      </p:pic>
      <p:sp>
        <p:nvSpPr>
          <p:cNvPr id="7" name="TextBox 6">
            <a:extLst>
              <a:ext uri="{FF2B5EF4-FFF2-40B4-BE49-F238E27FC236}">
                <a16:creationId xmlns:a16="http://schemas.microsoft.com/office/drawing/2014/main" id="{51FF3AEE-BA10-EEAC-D43B-CD58C5260410}"/>
              </a:ext>
            </a:extLst>
          </p:cNvPr>
          <p:cNvSpPr txBox="1"/>
          <p:nvPr/>
        </p:nvSpPr>
        <p:spPr>
          <a:xfrm>
            <a:off x="402336" y="1625600"/>
            <a:ext cx="8741664" cy="646331"/>
          </a:xfrm>
          <a:prstGeom prst="rect">
            <a:avLst/>
          </a:prstGeom>
          <a:noFill/>
        </p:spPr>
        <p:txBody>
          <a:bodyPr wrap="square">
            <a:spAutoFit/>
          </a:bodyPr>
          <a:lstStyle/>
          <a:p>
            <a:r>
              <a:rPr lang="en-IN" dirty="0"/>
              <a:t>SELECT </a:t>
            </a:r>
            <a:r>
              <a:rPr lang="en-IN" dirty="0" err="1"/>
              <a:t>p.first_name,p.patient_id</a:t>
            </a:r>
            <a:r>
              <a:rPr lang="en-IN" dirty="0"/>
              <a:t>,  </a:t>
            </a:r>
            <a:r>
              <a:rPr lang="en-IN" dirty="0" err="1"/>
              <a:t>p.last_name</a:t>
            </a:r>
            <a:r>
              <a:rPr lang="en-IN" dirty="0"/>
              <a:t>,    </a:t>
            </a:r>
            <a:r>
              <a:rPr lang="en-IN" dirty="0" err="1"/>
              <a:t>b.total_amount</a:t>
            </a:r>
            <a:r>
              <a:rPr lang="en-IN" dirty="0"/>
              <a:t> FROM Patients p JOIN Bills b ON </a:t>
            </a:r>
            <a:r>
              <a:rPr lang="en-IN" dirty="0" err="1"/>
              <a:t>p.patient_id</a:t>
            </a:r>
            <a:r>
              <a:rPr lang="en-IN" dirty="0"/>
              <a:t>=</a:t>
            </a:r>
            <a:r>
              <a:rPr lang="en-IN" dirty="0" err="1"/>
              <a:t>b.patient_id</a:t>
            </a:r>
            <a:r>
              <a:rPr lang="en-IN" dirty="0"/>
              <a:t> WHERE  </a:t>
            </a:r>
            <a:r>
              <a:rPr lang="en-IN" dirty="0" err="1"/>
              <a:t>b.payment_status</a:t>
            </a:r>
            <a:r>
              <a:rPr lang="en-IN" dirty="0"/>
              <a:t>='Pending';</a:t>
            </a:r>
          </a:p>
        </p:txBody>
      </p:sp>
    </p:spTree>
    <p:extLst>
      <p:ext uri="{BB962C8B-B14F-4D97-AF65-F5344CB8AC3E}">
        <p14:creationId xmlns:p14="http://schemas.microsoft.com/office/powerpoint/2010/main" val="3846328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CF9CA-9621-AAD6-636F-1D64EA056493}"/>
              </a:ext>
            </a:extLst>
          </p:cNvPr>
          <p:cNvSpPr>
            <a:spLocks noGrp="1"/>
          </p:cNvSpPr>
          <p:nvPr>
            <p:ph type="title"/>
          </p:nvPr>
        </p:nvSpPr>
        <p:spPr/>
        <p:txBody>
          <a:bodyPr/>
          <a:lstStyle/>
          <a:p>
            <a:r>
              <a:rPr lang="en-IN" dirty="0"/>
              <a:t>Top 5  Revenue Generating Patients</a:t>
            </a:r>
          </a:p>
        </p:txBody>
      </p:sp>
      <p:sp>
        <p:nvSpPr>
          <p:cNvPr id="3" name="Content Placeholder 2">
            <a:extLst>
              <a:ext uri="{FF2B5EF4-FFF2-40B4-BE49-F238E27FC236}">
                <a16:creationId xmlns:a16="http://schemas.microsoft.com/office/drawing/2014/main" id="{68C963B9-5753-E5F8-6582-1F85A8A66F8D}"/>
              </a:ext>
            </a:extLst>
          </p:cNvPr>
          <p:cNvSpPr>
            <a:spLocks noGrp="1"/>
          </p:cNvSpPr>
          <p:nvPr>
            <p:ph sz="quarter" idx="1"/>
          </p:nvPr>
        </p:nvSpPr>
        <p:spPr/>
        <p:txBody>
          <a:bodyPr/>
          <a:lstStyle/>
          <a:p>
            <a:r>
              <a:rPr lang="en-IN" dirty="0"/>
              <a:t>SELECT </a:t>
            </a:r>
            <a:r>
              <a:rPr lang="en-IN" dirty="0" err="1"/>
              <a:t>p.first_name,p.patient_id</a:t>
            </a:r>
            <a:r>
              <a:rPr lang="en-IN" dirty="0"/>
              <a:t>,  </a:t>
            </a:r>
            <a:r>
              <a:rPr lang="en-IN" dirty="0" err="1"/>
              <a:t>p.last_name</a:t>
            </a:r>
            <a:r>
              <a:rPr lang="en-IN" dirty="0"/>
              <a:t>,       SUM(</a:t>
            </a:r>
            <a:r>
              <a:rPr lang="en-IN" dirty="0" err="1"/>
              <a:t>b.total_amount</a:t>
            </a:r>
            <a:r>
              <a:rPr lang="en-IN" dirty="0"/>
              <a:t>) </a:t>
            </a:r>
            <a:r>
              <a:rPr lang="en-IN" dirty="0" err="1"/>
              <a:t>Total_Bill</a:t>
            </a:r>
            <a:r>
              <a:rPr lang="en-IN" dirty="0"/>
              <a:t> FROM Patients p JOIN Bills b ON </a:t>
            </a:r>
            <a:r>
              <a:rPr lang="en-IN" dirty="0" err="1"/>
              <a:t>p.patient_id</a:t>
            </a:r>
            <a:r>
              <a:rPr lang="en-IN" dirty="0"/>
              <a:t>=</a:t>
            </a:r>
            <a:r>
              <a:rPr lang="en-IN" dirty="0" err="1"/>
              <a:t>b.patient_id</a:t>
            </a:r>
            <a:r>
              <a:rPr lang="en-IN" dirty="0"/>
              <a:t>  GROUP BY </a:t>
            </a:r>
            <a:r>
              <a:rPr lang="en-IN" dirty="0" err="1"/>
              <a:t>p.patient_id,p.first_name,p.last_name</a:t>
            </a:r>
            <a:r>
              <a:rPr lang="en-IN" dirty="0"/>
              <a:t> ORDER BY </a:t>
            </a:r>
            <a:r>
              <a:rPr lang="en-IN" dirty="0" err="1"/>
              <a:t>Total_Bill</a:t>
            </a:r>
            <a:r>
              <a:rPr lang="en-IN" dirty="0"/>
              <a:t> DESC LIMIT 5;</a:t>
            </a:r>
          </a:p>
        </p:txBody>
      </p:sp>
      <p:pic>
        <p:nvPicPr>
          <p:cNvPr id="5" name="Picture 4">
            <a:extLst>
              <a:ext uri="{FF2B5EF4-FFF2-40B4-BE49-F238E27FC236}">
                <a16:creationId xmlns:a16="http://schemas.microsoft.com/office/drawing/2014/main" id="{457F4CE3-A820-159D-F3D4-C2285C96F40E}"/>
              </a:ext>
            </a:extLst>
          </p:cNvPr>
          <p:cNvPicPr>
            <a:picLocks noChangeAspect="1"/>
          </p:cNvPicPr>
          <p:nvPr/>
        </p:nvPicPr>
        <p:blipFill>
          <a:blip r:embed="rId2"/>
          <a:stretch>
            <a:fillRect/>
          </a:stretch>
        </p:blipFill>
        <p:spPr>
          <a:xfrm>
            <a:off x="3833961" y="4018203"/>
            <a:ext cx="3894157" cy="1767993"/>
          </a:xfrm>
          <a:prstGeom prst="rect">
            <a:avLst/>
          </a:prstGeom>
        </p:spPr>
      </p:pic>
    </p:spTree>
    <p:extLst>
      <p:ext uri="{BB962C8B-B14F-4D97-AF65-F5344CB8AC3E}">
        <p14:creationId xmlns:p14="http://schemas.microsoft.com/office/powerpoint/2010/main" val="1372163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BDA69-3321-7168-6ACB-E4D8769F2505}"/>
              </a:ext>
            </a:extLst>
          </p:cNvPr>
          <p:cNvSpPr>
            <a:spLocks noGrp="1"/>
          </p:cNvSpPr>
          <p:nvPr>
            <p:ph type="title"/>
          </p:nvPr>
        </p:nvSpPr>
        <p:spPr/>
        <p:txBody>
          <a:bodyPr/>
          <a:lstStyle/>
          <a:p>
            <a:r>
              <a:rPr lang="en-IN"/>
              <a:t>Rank Doctors by Salary</a:t>
            </a:r>
          </a:p>
        </p:txBody>
      </p:sp>
      <p:sp>
        <p:nvSpPr>
          <p:cNvPr id="3" name="Content Placeholder 2">
            <a:extLst>
              <a:ext uri="{FF2B5EF4-FFF2-40B4-BE49-F238E27FC236}">
                <a16:creationId xmlns:a16="http://schemas.microsoft.com/office/drawing/2014/main" id="{3E59FE78-C8B0-D6EB-86D9-954226195A05}"/>
              </a:ext>
            </a:extLst>
          </p:cNvPr>
          <p:cNvSpPr>
            <a:spLocks noGrp="1"/>
          </p:cNvSpPr>
          <p:nvPr>
            <p:ph sz="quarter" idx="1"/>
          </p:nvPr>
        </p:nvSpPr>
        <p:spPr/>
        <p:txBody>
          <a:bodyPr/>
          <a:lstStyle/>
          <a:p>
            <a:r>
              <a:rPr lang="en-IN" dirty="0"/>
              <a:t>SELECT    </a:t>
            </a:r>
            <a:r>
              <a:rPr lang="en-IN" dirty="0" err="1"/>
              <a:t>d.doctor_name,d.doctor_id</a:t>
            </a:r>
            <a:r>
              <a:rPr lang="en-IN" dirty="0"/>
              <a:t>,   </a:t>
            </a:r>
            <a:r>
              <a:rPr lang="en-IN" dirty="0" err="1"/>
              <a:t>dep.department_name</a:t>
            </a:r>
            <a:r>
              <a:rPr lang="en-IN" dirty="0"/>
              <a:t>,    </a:t>
            </a:r>
            <a:r>
              <a:rPr lang="en-IN" dirty="0" err="1"/>
              <a:t>s.net_salary</a:t>
            </a:r>
            <a:r>
              <a:rPr lang="en-IN" dirty="0"/>
              <a:t>,   RANK() OVER(ORDER BY </a:t>
            </a:r>
            <a:r>
              <a:rPr lang="en-IN" dirty="0" err="1"/>
              <a:t>s.net_salary</a:t>
            </a:r>
            <a:r>
              <a:rPr lang="en-IN" dirty="0"/>
              <a:t> DESC) AS </a:t>
            </a:r>
            <a:r>
              <a:rPr lang="en-IN" dirty="0" err="1"/>
              <a:t>Salary_Rank</a:t>
            </a:r>
            <a:r>
              <a:rPr lang="en-IN" dirty="0"/>
              <a:t> FROM Doctors d JOIN Salary s ON </a:t>
            </a:r>
            <a:r>
              <a:rPr lang="en-IN" dirty="0" err="1"/>
              <a:t>d.doctor_id</a:t>
            </a:r>
            <a:r>
              <a:rPr lang="en-IN" dirty="0"/>
              <a:t>=</a:t>
            </a:r>
            <a:r>
              <a:rPr lang="en-IN" dirty="0" err="1"/>
              <a:t>s.doctor_id</a:t>
            </a:r>
            <a:r>
              <a:rPr lang="en-IN" dirty="0"/>
              <a:t> JOIN Departments </a:t>
            </a:r>
            <a:r>
              <a:rPr lang="en-IN" dirty="0" err="1"/>
              <a:t>depON</a:t>
            </a:r>
            <a:r>
              <a:rPr lang="en-IN" dirty="0"/>
              <a:t> </a:t>
            </a:r>
            <a:r>
              <a:rPr lang="en-IN" dirty="0" err="1"/>
              <a:t>d.department_id</a:t>
            </a:r>
            <a:r>
              <a:rPr lang="en-IN" dirty="0"/>
              <a:t>=</a:t>
            </a:r>
            <a:r>
              <a:rPr lang="en-IN" dirty="0" err="1"/>
              <a:t>dep.department_id</a:t>
            </a:r>
            <a:r>
              <a:rPr lang="en-IN" dirty="0"/>
              <a:t>;</a:t>
            </a:r>
          </a:p>
        </p:txBody>
      </p:sp>
      <p:pic>
        <p:nvPicPr>
          <p:cNvPr id="5" name="Picture 4">
            <a:extLst>
              <a:ext uri="{FF2B5EF4-FFF2-40B4-BE49-F238E27FC236}">
                <a16:creationId xmlns:a16="http://schemas.microsoft.com/office/drawing/2014/main" id="{D1CBDC38-09A2-4984-287C-D32024CE6F36}"/>
              </a:ext>
            </a:extLst>
          </p:cNvPr>
          <p:cNvPicPr>
            <a:picLocks noChangeAspect="1"/>
          </p:cNvPicPr>
          <p:nvPr/>
        </p:nvPicPr>
        <p:blipFill>
          <a:blip r:embed="rId2"/>
          <a:stretch>
            <a:fillRect/>
          </a:stretch>
        </p:blipFill>
        <p:spPr>
          <a:xfrm>
            <a:off x="3316951" y="3625674"/>
            <a:ext cx="6675698" cy="3003726"/>
          </a:xfrm>
          <a:prstGeom prst="rect">
            <a:avLst/>
          </a:prstGeom>
        </p:spPr>
      </p:pic>
    </p:spTree>
    <p:extLst>
      <p:ext uri="{BB962C8B-B14F-4D97-AF65-F5344CB8AC3E}">
        <p14:creationId xmlns:p14="http://schemas.microsoft.com/office/powerpoint/2010/main" val="3490400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8522A-D10A-EBC7-F7FD-DF7413C7CBCB}"/>
              </a:ext>
            </a:extLst>
          </p:cNvPr>
          <p:cNvSpPr>
            <a:spLocks noGrp="1"/>
          </p:cNvSpPr>
          <p:nvPr>
            <p:ph type="title"/>
          </p:nvPr>
        </p:nvSpPr>
        <p:spPr/>
        <p:txBody>
          <a:bodyPr/>
          <a:lstStyle/>
          <a:p>
            <a:r>
              <a:rPr lang="en-US" dirty="0"/>
              <a:t>Dense Rank Doctors by Salary</a:t>
            </a:r>
            <a:endParaRPr lang="en-IN" dirty="0"/>
          </a:p>
        </p:txBody>
      </p:sp>
      <p:sp>
        <p:nvSpPr>
          <p:cNvPr id="3" name="Content Placeholder 2">
            <a:extLst>
              <a:ext uri="{FF2B5EF4-FFF2-40B4-BE49-F238E27FC236}">
                <a16:creationId xmlns:a16="http://schemas.microsoft.com/office/drawing/2014/main" id="{2F88611C-AECE-2D2E-6CD3-B3318188B887}"/>
              </a:ext>
            </a:extLst>
          </p:cNvPr>
          <p:cNvSpPr>
            <a:spLocks noGrp="1"/>
          </p:cNvSpPr>
          <p:nvPr>
            <p:ph sz="quarter" idx="1"/>
          </p:nvPr>
        </p:nvSpPr>
        <p:spPr/>
        <p:txBody>
          <a:bodyPr/>
          <a:lstStyle/>
          <a:p>
            <a:r>
              <a:rPr lang="en-IN" dirty="0"/>
              <a:t>SELECT    </a:t>
            </a:r>
            <a:r>
              <a:rPr lang="en-IN" dirty="0" err="1"/>
              <a:t>d.doctor_name,d.doctor_id</a:t>
            </a:r>
            <a:r>
              <a:rPr lang="en-IN" dirty="0"/>
              <a:t>,  </a:t>
            </a:r>
            <a:r>
              <a:rPr lang="en-IN" dirty="0" err="1"/>
              <a:t>s.net_salary</a:t>
            </a:r>
            <a:r>
              <a:rPr lang="en-IN" dirty="0"/>
              <a:t>,    DENSE_RANK() OVER(ORDER BY </a:t>
            </a:r>
            <a:r>
              <a:rPr lang="en-IN" dirty="0" err="1"/>
              <a:t>s.net_salary</a:t>
            </a:r>
            <a:r>
              <a:rPr lang="en-IN" dirty="0"/>
              <a:t> DESC) AS </a:t>
            </a:r>
            <a:r>
              <a:rPr lang="en-IN" dirty="0" err="1"/>
              <a:t>Salary_Rank</a:t>
            </a:r>
            <a:r>
              <a:rPr lang="en-IN" dirty="0"/>
              <a:t> FROM Doctors d JOIN Salary s ON </a:t>
            </a:r>
            <a:r>
              <a:rPr lang="en-IN" dirty="0" err="1"/>
              <a:t>d.doctor_id</a:t>
            </a:r>
            <a:r>
              <a:rPr lang="en-IN" dirty="0"/>
              <a:t>=</a:t>
            </a:r>
            <a:r>
              <a:rPr lang="en-IN" dirty="0" err="1"/>
              <a:t>s.doctor_id</a:t>
            </a:r>
            <a:r>
              <a:rPr lang="en-IN" dirty="0"/>
              <a:t>;</a:t>
            </a:r>
          </a:p>
        </p:txBody>
      </p:sp>
      <p:pic>
        <p:nvPicPr>
          <p:cNvPr id="5" name="Picture 4">
            <a:extLst>
              <a:ext uri="{FF2B5EF4-FFF2-40B4-BE49-F238E27FC236}">
                <a16:creationId xmlns:a16="http://schemas.microsoft.com/office/drawing/2014/main" id="{2059E0F0-4131-05D8-7AB7-1A772F17D5B2}"/>
              </a:ext>
            </a:extLst>
          </p:cNvPr>
          <p:cNvPicPr>
            <a:picLocks noChangeAspect="1"/>
          </p:cNvPicPr>
          <p:nvPr/>
        </p:nvPicPr>
        <p:blipFill>
          <a:blip r:embed="rId2"/>
          <a:stretch>
            <a:fillRect/>
          </a:stretch>
        </p:blipFill>
        <p:spPr>
          <a:xfrm>
            <a:off x="4824507" y="2918807"/>
            <a:ext cx="5143946" cy="3377345"/>
          </a:xfrm>
          <a:prstGeom prst="rect">
            <a:avLst/>
          </a:prstGeom>
        </p:spPr>
      </p:pic>
    </p:spTree>
    <p:extLst>
      <p:ext uri="{BB962C8B-B14F-4D97-AF65-F5344CB8AC3E}">
        <p14:creationId xmlns:p14="http://schemas.microsoft.com/office/powerpoint/2010/main" val="1853034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1B2E1-1C06-5CF3-04CF-7A9145C45D3C}"/>
              </a:ext>
            </a:extLst>
          </p:cNvPr>
          <p:cNvSpPr>
            <a:spLocks noGrp="1"/>
          </p:cNvSpPr>
          <p:nvPr>
            <p:ph type="title"/>
          </p:nvPr>
        </p:nvSpPr>
        <p:spPr/>
        <p:txBody>
          <a:bodyPr/>
          <a:lstStyle/>
          <a:p>
            <a:r>
              <a:rPr lang="en-IN" dirty="0"/>
              <a:t>Previous Doctor Salary (LAG)</a:t>
            </a:r>
          </a:p>
        </p:txBody>
      </p:sp>
      <p:sp>
        <p:nvSpPr>
          <p:cNvPr id="3" name="Content Placeholder 2">
            <a:extLst>
              <a:ext uri="{FF2B5EF4-FFF2-40B4-BE49-F238E27FC236}">
                <a16:creationId xmlns:a16="http://schemas.microsoft.com/office/drawing/2014/main" id="{84B52F21-BCCE-1CD4-7208-A79C6CAF3E8B}"/>
              </a:ext>
            </a:extLst>
          </p:cNvPr>
          <p:cNvSpPr>
            <a:spLocks noGrp="1"/>
          </p:cNvSpPr>
          <p:nvPr>
            <p:ph sz="quarter" idx="1"/>
          </p:nvPr>
        </p:nvSpPr>
        <p:spPr/>
        <p:txBody>
          <a:bodyPr/>
          <a:lstStyle/>
          <a:p>
            <a:r>
              <a:rPr lang="en-IN" dirty="0"/>
              <a:t>SELECT   </a:t>
            </a:r>
            <a:r>
              <a:rPr lang="en-IN" dirty="0" err="1"/>
              <a:t>d.doctor_name,d.doctor_id</a:t>
            </a:r>
            <a:r>
              <a:rPr lang="en-IN" dirty="0"/>
              <a:t>,    </a:t>
            </a:r>
            <a:r>
              <a:rPr lang="en-IN" dirty="0" err="1"/>
              <a:t>s.net_salary</a:t>
            </a:r>
            <a:r>
              <a:rPr lang="en-IN" dirty="0"/>
              <a:t>,    LAG(</a:t>
            </a:r>
            <a:r>
              <a:rPr lang="en-IN" dirty="0" err="1"/>
              <a:t>s.net_salary</a:t>
            </a:r>
            <a:r>
              <a:rPr lang="en-IN" dirty="0"/>
              <a:t>)    OVER(ORDER BY </a:t>
            </a:r>
            <a:r>
              <a:rPr lang="en-IN" dirty="0" err="1"/>
              <a:t>s.net_salary</a:t>
            </a:r>
            <a:r>
              <a:rPr lang="en-IN" dirty="0"/>
              <a:t>) AS </a:t>
            </a:r>
            <a:r>
              <a:rPr lang="en-IN" dirty="0" err="1"/>
              <a:t>Previous_Salary</a:t>
            </a:r>
            <a:r>
              <a:rPr lang="en-IN" dirty="0"/>
              <a:t> FROM Doctors d JOIN Salary s ON </a:t>
            </a:r>
            <a:r>
              <a:rPr lang="en-IN" dirty="0" err="1"/>
              <a:t>d.doctor_id</a:t>
            </a:r>
            <a:r>
              <a:rPr lang="en-IN" dirty="0"/>
              <a:t>=</a:t>
            </a:r>
            <a:r>
              <a:rPr lang="en-IN" dirty="0" err="1"/>
              <a:t>s.doctor_id</a:t>
            </a:r>
            <a:r>
              <a:rPr lang="en-IN" dirty="0"/>
              <a:t>;</a:t>
            </a:r>
          </a:p>
        </p:txBody>
      </p:sp>
      <p:pic>
        <p:nvPicPr>
          <p:cNvPr id="5" name="Picture 4">
            <a:extLst>
              <a:ext uri="{FF2B5EF4-FFF2-40B4-BE49-F238E27FC236}">
                <a16:creationId xmlns:a16="http://schemas.microsoft.com/office/drawing/2014/main" id="{D6243D69-BF51-3472-2619-FC1A070B9783}"/>
              </a:ext>
            </a:extLst>
          </p:cNvPr>
          <p:cNvPicPr>
            <a:picLocks noChangeAspect="1"/>
          </p:cNvPicPr>
          <p:nvPr/>
        </p:nvPicPr>
        <p:blipFill>
          <a:blip r:embed="rId2"/>
          <a:stretch>
            <a:fillRect/>
          </a:stretch>
        </p:blipFill>
        <p:spPr>
          <a:xfrm>
            <a:off x="5013805" y="2909481"/>
            <a:ext cx="3566469" cy="3623399"/>
          </a:xfrm>
          <a:prstGeom prst="rect">
            <a:avLst/>
          </a:prstGeom>
        </p:spPr>
      </p:pic>
    </p:spTree>
    <p:extLst>
      <p:ext uri="{BB962C8B-B14F-4D97-AF65-F5344CB8AC3E}">
        <p14:creationId xmlns:p14="http://schemas.microsoft.com/office/powerpoint/2010/main" val="864080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7B681-46EB-E39C-4CFB-157D5581CA3F}"/>
              </a:ext>
            </a:extLst>
          </p:cNvPr>
          <p:cNvSpPr>
            <a:spLocks noGrp="1"/>
          </p:cNvSpPr>
          <p:nvPr>
            <p:ph type="title"/>
          </p:nvPr>
        </p:nvSpPr>
        <p:spPr/>
        <p:txBody>
          <a:bodyPr/>
          <a:lstStyle/>
          <a:p>
            <a:r>
              <a:rPr lang="en-IN" dirty="0"/>
              <a:t>Next Doctor Salary (LEAD)</a:t>
            </a:r>
          </a:p>
        </p:txBody>
      </p:sp>
      <p:sp>
        <p:nvSpPr>
          <p:cNvPr id="3" name="Content Placeholder 2">
            <a:extLst>
              <a:ext uri="{FF2B5EF4-FFF2-40B4-BE49-F238E27FC236}">
                <a16:creationId xmlns:a16="http://schemas.microsoft.com/office/drawing/2014/main" id="{0A495BC5-3D9A-E99D-85F4-853FBAFDB649}"/>
              </a:ext>
            </a:extLst>
          </p:cNvPr>
          <p:cNvSpPr>
            <a:spLocks noGrp="1"/>
          </p:cNvSpPr>
          <p:nvPr>
            <p:ph sz="quarter" idx="1"/>
          </p:nvPr>
        </p:nvSpPr>
        <p:spPr>
          <a:xfrm>
            <a:off x="402336" y="1537208"/>
            <a:ext cx="11338560" cy="4572000"/>
          </a:xfrm>
        </p:spPr>
        <p:txBody>
          <a:bodyPr/>
          <a:lstStyle/>
          <a:p>
            <a:r>
              <a:rPr lang="en-IN" dirty="0"/>
              <a:t>SELECT    </a:t>
            </a:r>
            <a:r>
              <a:rPr lang="en-IN" dirty="0" err="1"/>
              <a:t>d.doctor_name,d.doctor_id</a:t>
            </a:r>
            <a:r>
              <a:rPr lang="en-IN" dirty="0"/>
              <a:t>,    </a:t>
            </a:r>
            <a:r>
              <a:rPr lang="en-IN" dirty="0" err="1"/>
              <a:t>s.net_salary</a:t>
            </a:r>
            <a:r>
              <a:rPr lang="en-IN" dirty="0"/>
              <a:t>,    LEAD(</a:t>
            </a:r>
            <a:r>
              <a:rPr lang="en-IN" dirty="0" err="1"/>
              <a:t>s.net_salary</a:t>
            </a:r>
            <a:r>
              <a:rPr lang="en-IN" dirty="0"/>
              <a:t>)    OVER(ORDER BY </a:t>
            </a:r>
            <a:r>
              <a:rPr lang="en-IN" dirty="0" err="1"/>
              <a:t>s.net_salary</a:t>
            </a:r>
            <a:r>
              <a:rPr lang="en-IN" dirty="0"/>
              <a:t>) AS </a:t>
            </a:r>
            <a:r>
              <a:rPr lang="en-IN" dirty="0" err="1"/>
              <a:t>Next_Salary</a:t>
            </a:r>
            <a:r>
              <a:rPr lang="en-IN" dirty="0"/>
              <a:t> FROM Doctors d JOIN Salary s ON </a:t>
            </a:r>
            <a:r>
              <a:rPr lang="en-IN" dirty="0" err="1"/>
              <a:t>d.doctor_id</a:t>
            </a:r>
            <a:r>
              <a:rPr lang="en-IN" dirty="0"/>
              <a:t>=</a:t>
            </a:r>
            <a:r>
              <a:rPr lang="en-IN" dirty="0" err="1"/>
              <a:t>s.doctor_id</a:t>
            </a:r>
            <a:r>
              <a:rPr lang="en-IN" dirty="0"/>
              <a:t>;</a:t>
            </a:r>
          </a:p>
        </p:txBody>
      </p:sp>
      <p:pic>
        <p:nvPicPr>
          <p:cNvPr id="5" name="Picture 4">
            <a:extLst>
              <a:ext uri="{FF2B5EF4-FFF2-40B4-BE49-F238E27FC236}">
                <a16:creationId xmlns:a16="http://schemas.microsoft.com/office/drawing/2014/main" id="{2300DB65-F6A8-9DC8-03A4-AE1715E559CB}"/>
              </a:ext>
            </a:extLst>
          </p:cNvPr>
          <p:cNvPicPr>
            <a:picLocks noChangeAspect="1"/>
          </p:cNvPicPr>
          <p:nvPr/>
        </p:nvPicPr>
        <p:blipFill>
          <a:blip r:embed="rId2"/>
          <a:stretch>
            <a:fillRect/>
          </a:stretch>
        </p:blipFill>
        <p:spPr>
          <a:xfrm>
            <a:off x="4121995" y="2985172"/>
            <a:ext cx="3939881" cy="3113876"/>
          </a:xfrm>
          <a:prstGeom prst="rect">
            <a:avLst/>
          </a:prstGeom>
        </p:spPr>
      </p:pic>
    </p:spTree>
    <p:extLst>
      <p:ext uri="{BB962C8B-B14F-4D97-AF65-F5344CB8AC3E}">
        <p14:creationId xmlns:p14="http://schemas.microsoft.com/office/powerpoint/2010/main" val="940979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0BE8B-9C28-14DD-F7A0-135DA296C79F}"/>
              </a:ext>
            </a:extLst>
          </p:cNvPr>
          <p:cNvSpPr>
            <a:spLocks noGrp="1"/>
          </p:cNvSpPr>
          <p:nvPr>
            <p:ph type="title"/>
          </p:nvPr>
        </p:nvSpPr>
        <p:spPr/>
        <p:txBody>
          <a:bodyPr/>
          <a:lstStyle/>
          <a:p>
            <a:r>
              <a:rPr lang="en-IN" dirty="0"/>
              <a:t>Running Hospital Revenue</a:t>
            </a:r>
          </a:p>
        </p:txBody>
      </p:sp>
      <p:sp>
        <p:nvSpPr>
          <p:cNvPr id="3" name="Content Placeholder 2">
            <a:extLst>
              <a:ext uri="{FF2B5EF4-FFF2-40B4-BE49-F238E27FC236}">
                <a16:creationId xmlns:a16="http://schemas.microsoft.com/office/drawing/2014/main" id="{9863A1FD-49D7-E792-A209-3CF7710BE845}"/>
              </a:ext>
            </a:extLst>
          </p:cNvPr>
          <p:cNvSpPr>
            <a:spLocks noGrp="1"/>
          </p:cNvSpPr>
          <p:nvPr>
            <p:ph sz="quarter" idx="1"/>
          </p:nvPr>
        </p:nvSpPr>
        <p:spPr>
          <a:xfrm>
            <a:off x="402336" y="1537208"/>
            <a:ext cx="11338560" cy="4572000"/>
          </a:xfrm>
        </p:spPr>
        <p:txBody>
          <a:bodyPr/>
          <a:lstStyle/>
          <a:p>
            <a:r>
              <a:rPr lang="en-US" dirty="0"/>
              <a:t>SELECT    </a:t>
            </a:r>
            <a:r>
              <a:rPr lang="en-US" dirty="0" err="1"/>
              <a:t>bill_date</a:t>
            </a:r>
            <a:r>
              <a:rPr lang="en-US" dirty="0"/>
              <a:t>,    </a:t>
            </a:r>
            <a:r>
              <a:rPr lang="en-US" dirty="0" err="1"/>
              <a:t>total_amount</a:t>
            </a:r>
            <a:r>
              <a:rPr lang="en-US" dirty="0"/>
              <a:t>,    SUM(</a:t>
            </a:r>
            <a:r>
              <a:rPr lang="en-US" dirty="0" err="1"/>
              <a:t>total_amount</a:t>
            </a:r>
            <a:r>
              <a:rPr lang="en-US" dirty="0"/>
              <a:t>)    OVER(ORDER BY </a:t>
            </a:r>
            <a:r>
              <a:rPr lang="en-US" dirty="0" err="1"/>
              <a:t>bill_date</a:t>
            </a:r>
            <a:r>
              <a:rPr lang="en-US" dirty="0"/>
              <a:t>) AS </a:t>
            </a:r>
            <a:r>
              <a:rPr lang="en-US" dirty="0" err="1"/>
              <a:t>Running_RevenueFROM</a:t>
            </a:r>
            <a:r>
              <a:rPr lang="en-US" dirty="0"/>
              <a:t> Bills;</a:t>
            </a:r>
            <a:endParaRPr lang="en-IN" dirty="0"/>
          </a:p>
        </p:txBody>
      </p:sp>
      <p:pic>
        <p:nvPicPr>
          <p:cNvPr id="5" name="Picture 4">
            <a:extLst>
              <a:ext uri="{FF2B5EF4-FFF2-40B4-BE49-F238E27FC236}">
                <a16:creationId xmlns:a16="http://schemas.microsoft.com/office/drawing/2014/main" id="{3288EE2A-DEB2-4118-6398-03A753092800}"/>
              </a:ext>
            </a:extLst>
          </p:cNvPr>
          <p:cNvPicPr>
            <a:picLocks noChangeAspect="1"/>
          </p:cNvPicPr>
          <p:nvPr/>
        </p:nvPicPr>
        <p:blipFill>
          <a:blip r:embed="rId2"/>
          <a:stretch>
            <a:fillRect/>
          </a:stretch>
        </p:blipFill>
        <p:spPr>
          <a:xfrm>
            <a:off x="4384908" y="2512215"/>
            <a:ext cx="3414056" cy="4069433"/>
          </a:xfrm>
          <a:prstGeom prst="rect">
            <a:avLst/>
          </a:prstGeom>
        </p:spPr>
      </p:pic>
    </p:spTree>
    <p:extLst>
      <p:ext uri="{BB962C8B-B14F-4D97-AF65-F5344CB8AC3E}">
        <p14:creationId xmlns:p14="http://schemas.microsoft.com/office/powerpoint/2010/main" val="196466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57C54-823F-E9B6-6272-9803F4ABD949}"/>
              </a:ext>
            </a:extLst>
          </p:cNvPr>
          <p:cNvSpPr>
            <a:spLocks noGrp="1"/>
          </p:cNvSpPr>
          <p:nvPr>
            <p:ph type="title"/>
          </p:nvPr>
        </p:nvSpPr>
        <p:spPr/>
        <p:txBody>
          <a:bodyPr/>
          <a:lstStyle/>
          <a:p>
            <a:r>
              <a:rPr lang="en-IN"/>
              <a:t> Monthly Revenue Trend</a:t>
            </a:r>
          </a:p>
        </p:txBody>
      </p:sp>
      <p:sp>
        <p:nvSpPr>
          <p:cNvPr id="3" name="Content Placeholder 2">
            <a:extLst>
              <a:ext uri="{FF2B5EF4-FFF2-40B4-BE49-F238E27FC236}">
                <a16:creationId xmlns:a16="http://schemas.microsoft.com/office/drawing/2014/main" id="{431D0091-B5C1-0BB3-BE42-D530A93239BA}"/>
              </a:ext>
            </a:extLst>
          </p:cNvPr>
          <p:cNvSpPr>
            <a:spLocks noGrp="1"/>
          </p:cNvSpPr>
          <p:nvPr>
            <p:ph sz="quarter" idx="1"/>
          </p:nvPr>
        </p:nvSpPr>
        <p:spPr/>
        <p:txBody>
          <a:bodyPr/>
          <a:lstStyle/>
          <a:p>
            <a:r>
              <a:rPr lang="en-US" dirty="0"/>
              <a:t>SELECT    MONTH(</a:t>
            </a:r>
            <a:r>
              <a:rPr lang="en-US" dirty="0" err="1"/>
              <a:t>bill_date</a:t>
            </a:r>
            <a:r>
              <a:rPr lang="en-US" dirty="0"/>
              <a:t>) AS Month,    SUM(</a:t>
            </a:r>
            <a:r>
              <a:rPr lang="en-US" dirty="0" err="1"/>
              <a:t>total_amount</a:t>
            </a:r>
            <a:r>
              <a:rPr lang="en-US" dirty="0"/>
              <a:t>) AS </a:t>
            </a:r>
            <a:r>
              <a:rPr lang="en-US" dirty="0" err="1"/>
              <a:t>RevenueFROM</a:t>
            </a:r>
            <a:r>
              <a:rPr lang="en-US" dirty="0"/>
              <a:t> </a:t>
            </a:r>
            <a:r>
              <a:rPr lang="en-US" dirty="0" err="1"/>
              <a:t>BillsGROUP</a:t>
            </a:r>
            <a:r>
              <a:rPr lang="en-US" dirty="0"/>
              <a:t> BY MONTH(</a:t>
            </a:r>
            <a:r>
              <a:rPr lang="en-US" dirty="0" err="1"/>
              <a:t>bill_date</a:t>
            </a:r>
            <a:r>
              <a:rPr lang="en-US" dirty="0"/>
              <a:t>)ORDER BY Month;</a:t>
            </a:r>
            <a:endParaRPr lang="en-IN" dirty="0"/>
          </a:p>
        </p:txBody>
      </p:sp>
      <p:pic>
        <p:nvPicPr>
          <p:cNvPr id="5" name="Picture 4">
            <a:extLst>
              <a:ext uri="{FF2B5EF4-FFF2-40B4-BE49-F238E27FC236}">
                <a16:creationId xmlns:a16="http://schemas.microsoft.com/office/drawing/2014/main" id="{948A24E4-E2A9-59BF-804F-FBBD65D1D2A6}"/>
              </a:ext>
            </a:extLst>
          </p:cNvPr>
          <p:cNvPicPr>
            <a:picLocks noChangeAspect="1"/>
          </p:cNvPicPr>
          <p:nvPr/>
        </p:nvPicPr>
        <p:blipFill>
          <a:blip r:embed="rId2"/>
          <a:stretch>
            <a:fillRect/>
          </a:stretch>
        </p:blipFill>
        <p:spPr>
          <a:xfrm>
            <a:off x="4754777" y="2949371"/>
            <a:ext cx="2377646" cy="1767993"/>
          </a:xfrm>
          <a:prstGeom prst="rect">
            <a:avLst/>
          </a:prstGeom>
        </p:spPr>
      </p:pic>
    </p:spTree>
    <p:extLst>
      <p:ext uri="{BB962C8B-B14F-4D97-AF65-F5344CB8AC3E}">
        <p14:creationId xmlns:p14="http://schemas.microsoft.com/office/powerpoint/2010/main" val="4005912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35BBD-03CC-525D-0E37-BBD7FD4E8DB7}"/>
              </a:ext>
            </a:extLst>
          </p:cNvPr>
          <p:cNvSpPr>
            <a:spLocks noGrp="1"/>
          </p:cNvSpPr>
          <p:nvPr>
            <p:ph type="title"/>
          </p:nvPr>
        </p:nvSpPr>
        <p:spPr/>
        <p:txBody>
          <a:bodyPr/>
          <a:lstStyle/>
          <a:p>
            <a:r>
              <a:rPr lang="en-IN" dirty="0"/>
              <a:t>Average Bill by Department</a:t>
            </a:r>
          </a:p>
        </p:txBody>
      </p:sp>
      <p:sp>
        <p:nvSpPr>
          <p:cNvPr id="3" name="Content Placeholder 2">
            <a:extLst>
              <a:ext uri="{FF2B5EF4-FFF2-40B4-BE49-F238E27FC236}">
                <a16:creationId xmlns:a16="http://schemas.microsoft.com/office/drawing/2014/main" id="{31924057-631C-24FC-E4B3-C223AE01EE08}"/>
              </a:ext>
            </a:extLst>
          </p:cNvPr>
          <p:cNvSpPr>
            <a:spLocks noGrp="1"/>
          </p:cNvSpPr>
          <p:nvPr>
            <p:ph sz="quarter" idx="1"/>
          </p:nvPr>
        </p:nvSpPr>
        <p:spPr/>
        <p:txBody>
          <a:bodyPr/>
          <a:lstStyle/>
          <a:p>
            <a:r>
              <a:rPr lang="en-IN" dirty="0"/>
              <a:t>select   </a:t>
            </a:r>
            <a:r>
              <a:rPr lang="en-IN" dirty="0" err="1"/>
              <a:t>dep.department_name</a:t>
            </a:r>
            <a:r>
              <a:rPr lang="en-IN" dirty="0"/>
              <a:t>,    ROUND(AVG(</a:t>
            </a:r>
            <a:r>
              <a:rPr lang="en-IN" dirty="0" err="1"/>
              <a:t>b.total_amount</a:t>
            </a:r>
            <a:r>
              <a:rPr lang="en-IN" dirty="0"/>
              <a:t>),2) AS </a:t>
            </a:r>
            <a:r>
              <a:rPr lang="en-IN" dirty="0" err="1"/>
              <a:t>Average_Bill</a:t>
            </a:r>
            <a:r>
              <a:rPr lang="en-IN" dirty="0"/>
              <a:t> FROM Bills b JOIN Admissions a ON </a:t>
            </a:r>
            <a:r>
              <a:rPr lang="en-IN" dirty="0" err="1"/>
              <a:t>b.admission_id</a:t>
            </a:r>
            <a:r>
              <a:rPr lang="en-IN" dirty="0"/>
              <a:t>=</a:t>
            </a:r>
            <a:r>
              <a:rPr lang="en-IN" dirty="0" err="1"/>
              <a:t>a.admission_id</a:t>
            </a:r>
            <a:r>
              <a:rPr lang="en-IN" dirty="0"/>
              <a:t> JOIN Doctors d ON </a:t>
            </a:r>
            <a:r>
              <a:rPr lang="en-IN" dirty="0" err="1"/>
              <a:t>a.doctor_id</a:t>
            </a:r>
            <a:r>
              <a:rPr lang="en-IN" dirty="0"/>
              <a:t>=</a:t>
            </a:r>
            <a:r>
              <a:rPr lang="en-IN" dirty="0" err="1"/>
              <a:t>d.doctor_id</a:t>
            </a:r>
            <a:r>
              <a:rPr lang="en-IN" dirty="0"/>
              <a:t> JOIN Departments dep ON </a:t>
            </a:r>
            <a:r>
              <a:rPr lang="en-IN" dirty="0" err="1"/>
              <a:t>d.department_id</a:t>
            </a:r>
            <a:r>
              <a:rPr lang="en-IN" dirty="0"/>
              <a:t>=</a:t>
            </a:r>
            <a:r>
              <a:rPr lang="en-IN" dirty="0" err="1"/>
              <a:t>dep.department_id</a:t>
            </a:r>
            <a:r>
              <a:rPr lang="en-IN" dirty="0"/>
              <a:t> GROUP BY </a:t>
            </a:r>
            <a:r>
              <a:rPr lang="en-IN" dirty="0" err="1"/>
              <a:t>dep.department_name</a:t>
            </a:r>
            <a:r>
              <a:rPr lang="en-IN" dirty="0"/>
              <a:t>;</a:t>
            </a:r>
          </a:p>
        </p:txBody>
      </p:sp>
      <p:pic>
        <p:nvPicPr>
          <p:cNvPr id="5" name="Picture 4">
            <a:extLst>
              <a:ext uri="{FF2B5EF4-FFF2-40B4-BE49-F238E27FC236}">
                <a16:creationId xmlns:a16="http://schemas.microsoft.com/office/drawing/2014/main" id="{A3AEA61A-0F20-7066-F371-A5423D00EA95}"/>
              </a:ext>
            </a:extLst>
          </p:cNvPr>
          <p:cNvPicPr>
            <a:picLocks noChangeAspect="1"/>
          </p:cNvPicPr>
          <p:nvPr/>
        </p:nvPicPr>
        <p:blipFill>
          <a:blip r:embed="rId2"/>
          <a:stretch>
            <a:fillRect/>
          </a:stretch>
        </p:blipFill>
        <p:spPr>
          <a:xfrm>
            <a:off x="9048644" y="2195666"/>
            <a:ext cx="2446232" cy="3787468"/>
          </a:xfrm>
          <a:prstGeom prst="rect">
            <a:avLst/>
          </a:prstGeom>
        </p:spPr>
      </p:pic>
    </p:spTree>
    <p:extLst>
      <p:ext uri="{BB962C8B-B14F-4D97-AF65-F5344CB8AC3E}">
        <p14:creationId xmlns:p14="http://schemas.microsoft.com/office/powerpoint/2010/main" val="2153978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19941-EB7E-9F90-F358-71958DD2A69D}"/>
              </a:ext>
            </a:extLst>
          </p:cNvPr>
          <p:cNvSpPr>
            <a:spLocks noGrp="1"/>
          </p:cNvSpPr>
          <p:nvPr>
            <p:ph type="title"/>
          </p:nvPr>
        </p:nvSpPr>
        <p:spPr/>
        <p:txBody>
          <a:bodyPr/>
          <a:lstStyle/>
          <a:p>
            <a:r>
              <a:rPr lang="en-IN" dirty="0"/>
              <a:t>Department Generating Highest Revenue</a:t>
            </a:r>
          </a:p>
        </p:txBody>
      </p:sp>
      <p:sp>
        <p:nvSpPr>
          <p:cNvPr id="3" name="Content Placeholder 2">
            <a:extLst>
              <a:ext uri="{FF2B5EF4-FFF2-40B4-BE49-F238E27FC236}">
                <a16:creationId xmlns:a16="http://schemas.microsoft.com/office/drawing/2014/main" id="{47EFE91A-47A2-9401-113E-3EFC9DF6E1C7}"/>
              </a:ext>
            </a:extLst>
          </p:cNvPr>
          <p:cNvSpPr>
            <a:spLocks noGrp="1"/>
          </p:cNvSpPr>
          <p:nvPr>
            <p:ph sz="quarter" idx="1"/>
          </p:nvPr>
        </p:nvSpPr>
        <p:spPr/>
        <p:txBody>
          <a:bodyPr/>
          <a:lstStyle/>
          <a:p>
            <a:r>
              <a:rPr lang="en-IN" dirty="0"/>
              <a:t>SELECT    </a:t>
            </a:r>
            <a:r>
              <a:rPr lang="en-IN" dirty="0" err="1"/>
              <a:t>dep.department_name</a:t>
            </a:r>
            <a:r>
              <a:rPr lang="en-IN" dirty="0"/>
              <a:t>,    SUM(</a:t>
            </a:r>
            <a:r>
              <a:rPr lang="en-IN" dirty="0" err="1"/>
              <a:t>b.total_amount</a:t>
            </a:r>
            <a:r>
              <a:rPr lang="en-IN" dirty="0"/>
              <a:t>) Revenue FROM Bills b JOIN Admissions a ON </a:t>
            </a:r>
            <a:r>
              <a:rPr lang="en-IN" dirty="0" err="1"/>
              <a:t>b.admission_id</a:t>
            </a:r>
            <a:r>
              <a:rPr lang="en-IN" dirty="0"/>
              <a:t>=</a:t>
            </a:r>
            <a:r>
              <a:rPr lang="en-IN" dirty="0" err="1"/>
              <a:t>a.admission_id</a:t>
            </a:r>
            <a:r>
              <a:rPr lang="en-IN" dirty="0"/>
              <a:t>  JOIN Doctors d ON </a:t>
            </a:r>
            <a:r>
              <a:rPr lang="en-IN" dirty="0" err="1"/>
              <a:t>a.doctor_id</a:t>
            </a:r>
            <a:r>
              <a:rPr lang="en-IN" dirty="0"/>
              <a:t>=</a:t>
            </a:r>
            <a:r>
              <a:rPr lang="en-IN" dirty="0" err="1"/>
              <a:t>d.doctor_id</a:t>
            </a:r>
            <a:r>
              <a:rPr lang="en-IN" dirty="0"/>
              <a:t> JOIN Departments dep ON </a:t>
            </a:r>
            <a:r>
              <a:rPr lang="en-IN" dirty="0" err="1"/>
              <a:t>d.department_id</a:t>
            </a:r>
            <a:r>
              <a:rPr lang="en-IN" dirty="0"/>
              <a:t>=</a:t>
            </a:r>
            <a:r>
              <a:rPr lang="en-IN" dirty="0" err="1"/>
              <a:t>dep.department_id</a:t>
            </a:r>
            <a:r>
              <a:rPr lang="en-IN" dirty="0"/>
              <a:t> GROUP BY </a:t>
            </a:r>
            <a:r>
              <a:rPr lang="en-IN" dirty="0" err="1"/>
              <a:t>dep.department_name</a:t>
            </a:r>
            <a:r>
              <a:rPr lang="en-IN" dirty="0"/>
              <a:t> ORDER BY Revenue DESC LIMIT 1;</a:t>
            </a:r>
          </a:p>
        </p:txBody>
      </p:sp>
      <p:pic>
        <p:nvPicPr>
          <p:cNvPr id="5" name="Picture 4">
            <a:extLst>
              <a:ext uri="{FF2B5EF4-FFF2-40B4-BE49-F238E27FC236}">
                <a16:creationId xmlns:a16="http://schemas.microsoft.com/office/drawing/2014/main" id="{B9829707-7594-E886-9286-B95488A265B9}"/>
              </a:ext>
            </a:extLst>
          </p:cNvPr>
          <p:cNvPicPr>
            <a:picLocks noChangeAspect="1"/>
          </p:cNvPicPr>
          <p:nvPr/>
        </p:nvPicPr>
        <p:blipFill>
          <a:blip r:embed="rId2"/>
          <a:stretch>
            <a:fillRect/>
          </a:stretch>
        </p:blipFill>
        <p:spPr>
          <a:xfrm>
            <a:off x="5328823" y="3813048"/>
            <a:ext cx="2225233" cy="2141406"/>
          </a:xfrm>
          <a:prstGeom prst="rect">
            <a:avLst/>
          </a:prstGeom>
        </p:spPr>
      </p:pic>
    </p:spTree>
    <p:extLst>
      <p:ext uri="{BB962C8B-B14F-4D97-AF65-F5344CB8AC3E}">
        <p14:creationId xmlns:p14="http://schemas.microsoft.com/office/powerpoint/2010/main" val="913498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37839-3A91-B416-E178-E4B122556DD6}"/>
              </a:ext>
            </a:extLst>
          </p:cNvPr>
          <p:cNvSpPr>
            <a:spLocks noGrp="1"/>
          </p:cNvSpPr>
          <p:nvPr>
            <p:ph type="title"/>
          </p:nvPr>
        </p:nvSpPr>
        <p:spPr/>
        <p:txBody>
          <a:bodyPr/>
          <a:lstStyle/>
          <a:p>
            <a:r>
              <a:rPr lang="en-IN" dirty="0"/>
              <a:t> Most Frequently Prescribed Medicine</a:t>
            </a:r>
          </a:p>
        </p:txBody>
      </p:sp>
      <p:sp>
        <p:nvSpPr>
          <p:cNvPr id="3" name="Content Placeholder 2">
            <a:extLst>
              <a:ext uri="{FF2B5EF4-FFF2-40B4-BE49-F238E27FC236}">
                <a16:creationId xmlns:a16="http://schemas.microsoft.com/office/drawing/2014/main" id="{0ABF1C0D-A257-63A3-507D-2E1C983FA30B}"/>
              </a:ext>
            </a:extLst>
          </p:cNvPr>
          <p:cNvSpPr>
            <a:spLocks noGrp="1"/>
          </p:cNvSpPr>
          <p:nvPr>
            <p:ph sz="quarter" idx="1"/>
          </p:nvPr>
        </p:nvSpPr>
        <p:spPr>
          <a:xfrm>
            <a:off x="402336" y="1537208"/>
            <a:ext cx="11338560" cy="4572000"/>
          </a:xfrm>
        </p:spPr>
        <p:txBody>
          <a:bodyPr/>
          <a:lstStyle/>
          <a:p>
            <a:r>
              <a:rPr lang="en-IN" dirty="0"/>
              <a:t>SELECT    </a:t>
            </a:r>
            <a:r>
              <a:rPr lang="en-IN" dirty="0" err="1"/>
              <a:t>m.medicine_name</a:t>
            </a:r>
            <a:r>
              <a:rPr lang="en-IN" dirty="0"/>
              <a:t>,    COUNT(*) AS </a:t>
            </a:r>
            <a:r>
              <a:rPr lang="en-IN" dirty="0" err="1"/>
              <a:t>Times_PrescribedFROM</a:t>
            </a:r>
            <a:r>
              <a:rPr lang="en-IN" dirty="0"/>
              <a:t> Prescriptions </a:t>
            </a:r>
            <a:r>
              <a:rPr lang="en-IN" dirty="0" err="1"/>
              <a:t>pJOIN</a:t>
            </a:r>
            <a:r>
              <a:rPr lang="en-IN" dirty="0"/>
              <a:t> Medicines </a:t>
            </a:r>
            <a:r>
              <a:rPr lang="en-IN" dirty="0" err="1"/>
              <a:t>mON</a:t>
            </a:r>
            <a:r>
              <a:rPr lang="en-IN" dirty="0"/>
              <a:t> </a:t>
            </a:r>
            <a:r>
              <a:rPr lang="en-IN" dirty="0" err="1"/>
              <a:t>p.medicine_id</a:t>
            </a:r>
            <a:r>
              <a:rPr lang="en-IN" dirty="0"/>
              <a:t>=</a:t>
            </a:r>
            <a:r>
              <a:rPr lang="en-IN" dirty="0" err="1"/>
              <a:t>m.medicine_idGROUP</a:t>
            </a:r>
            <a:r>
              <a:rPr lang="en-IN" dirty="0"/>
              <a:t> BY </a:t>
            </a:r>
            <a:r>
              <a:rPr lang="en-IN" dirty="0" err="1"/>
              <a:t>m.medicine_nameORDER</a:t>
            </a:r>
            <a:r>
              <a:rPr lang="en-IN" dirty="0"/>
              <a:t> BY </a:t>
            </a:r>
            <a:r>
              <a:rPr lang="en-IN" dirty="0" err="1"/>
              <a:t>Times_Prescribed</a:t>
            </a:r>
            <a:r>
              <a:rPr lang="en-IN" dirty="0"/>
              <a:t> DESCLIMIT 1;</a:t>
            </a:r>
          </a:p>
        </p:txBody>
      </p:sp>
      <p:pic>
        <p:nvPicPr>
          <p:cNvPr id="5" name="Picture 4">
            <a:extLst>
              <a:ext uri="{FF2B5EF4-FFF2-40B4-BE49-F238E27FC236}">
                <a16:creationId xmlns:a16="http://schemas.microsoft.com/office/drawing/2014/main" id="{33C0EC82-CA81-AFBE-E5C0-0DA303AB3BCB}"/>
              </a:ext>
            </a:extLst>
          </p:cNvPr>
          <p:cNvPicPr>
            <a:picLocks noChangeAspect="1"/>
          </p:cNvPicPr>
          <p:nvPr/>
        </p:nvPicPr>
        <p:blipFill>
          <a:blip r:embed="rId2"/>
          <a:stretch>
            <a:fillRect/>
          </a:stretch>
        </p:blipFill>
        <p:spPr>
          <a:xfrm>
            <a:off x="5368179" y="3951612"/>
            <a:ext cx="2552921" cy="1379340"/>
          </a:xfrm>
          <a:prstGeom prst="rect">
            <a:avLst/>
          </a:prstGeom>
        </p:spPr>
      </p:pic>
    </p:spTree>
    <p:extLst>
      <p:ext uri="{BB962C8B-B14F-4D97-AF65-F5344CB8AC3E}">
        <p14:creationId xmlns:p14="http://schemas.microsoft.com/office/powerpoint/2010/main" val="1652570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0CC35-E77C-0FB2-C809-EA37D467203B}"/>
              </a:ext>
            </a:extLst>
          </p:cNvPr>
          <p:cNvSpPr>
            <a:spLocks noGrp="1"/>
          </p:cNvSpPr>
          <p:nvPr>
            <p:ph type="title"/>
          </p:nvPr>
        </p:nvSpPr>
        <p:spPr/>
        <p:txBody>
          <a:bodyPr/>
          <a:lstStyle/>
          <a:p>
            <a:r>
              <a:rPr lang="en-US" dirty="0"/>
              <a:t>Patients Admitted More Than Once</a:t>
            </a:r>
            <a:endParaRPr lang="en-IN" dirty="0"/>
          </a:p>
        </p:txBody>
      </p:sp>
      <p:sp>
        <p:nvSpPr>
          <p:cNvPr id="3" name="Content Placeholder 2">
            <a:extLst>
              <a:ext uri="{FF2B5EF4-FFF2-40B4-BE49-F238E27FC236}">
                <a16:creationId xmlns:a16="http://schemas.microsoft.com/office/drawing/2014/main" id="{CD3A73CE-8E27-BCCD-2F09-9AD2F7CB6314}"/>
              </a:ext>
            </a:extLst>
          </p:cNvPr>
          <p:cNvSpPr>
            <a:spLocks noGrp="1"/>
          </p:cNvSpPr>
          <p:nvPr>
            <p:ph sz="quarter" idx="1"/>
          </p:nvPr>
        </p:nvSpPr>
        <p:spPr/>
        <p:txBody>
          <a:bodyPr/>
          <a:lstStyle/>
          <a:p>
            <a:r>
              <a:rPr lang="en-IN" dirty="0"/>
              <a:t>SELECT    </a:t>
            </a:r>
            <a:r>
              <a:rPr lang="en-IN" dirty="0" err="1"/>
              <a:t>p.first_name</a:t>
            </a:r>
            <a:r>
              <a:rPr lang="en-IN" dirty="0"/>
              <a:t>,    </a:t>
            </a:r>
            <a:r>
              <a:rPr lang="en-IN" dirty="0" err="1"/>
              <a:t>p.last_name</a:t>
            </a:r>
            <a:r>
              <a:rPr lang="en-IN" dirty="0"/>
              <a:t>,    COUNT(</a:t>
            </a:r>
            <a:r>
              <a:rPr lang="en-IN" dirty="0" err="1"/>
              <a:t>a.admission_id</a:t>
            </a:r>
            <a:r>
              <a:rPr lang="en-IN" dirty="0"/>
              <a:t>) AS </a:t>
            </a:r>
            <a:r>
              <a:rPr lang="en-IN" dirty="0" err="1"/>
              <a:t>AdmissionsFROM</a:t>
            </a:r>
            <a:r>
              <a:rPr lang="en-IN" dirty="0"/>
              <a:t> Patients </a:t>
            </a:r>
            <a:r>
              <a:rPr lang="en-IN" dirty="0" err="1"/>
              <a:t>pJOIN</a:t>
            </a:r>
            <a:r>
              <a:rPr lang="en-IN" dirty="0"/>
              <a:t> Admissions </a:t>
            </a:r>
            <a:r>
              <a:rPr lang="en-IN" dirty="0" err="1"/>
              <a:t>aON</a:t>
            </a:r>
            <a:r>
              <a:rPr lang="en-IN" dirty="0"/>
              <a:t> </a:t>
            </a:r>
            <a:r>
              <a:rPr lang="en-IN" dirty="0" err="1"/>
              <a:t>p.patient_id</a:t>
            </a:r>
            <a:r>
              <a:rPr lang="en-IN" dirty="0"/>
              <a:t>=</a:t>
            </a:r>
            <a:r>
              <a:rPr lang="en-IN" dirty="0" err="1"/>
              <a:t>a.patient_idGROUP</a:t>
            </a:r>
            <a:r>
              <a:rPr lang="en-IN" dirty="0"/>
              <a:t> BY </a:t>
            </a:r>
            <a:r>
              <a:rPr lang="en-IN" dirty="0" err="1"/>
              <a:t>p.patient_id,p.first_name,p.last_nameHAVING</a:t>
            </a:r>
            <a:r>
              <a:rPr lang="en-IN" dirty="0"/>
              <a:t> COUNT(*)&gt;1;</a:t>
            </a:r>
          </a:p>
        </p:txBody>
      </p:sp>
      <p:pic>
        <p:nvPicPr>
          <p:cNvPr id="5" name="Picture 4">
            <a:extLst>
              <a:ext uri="{FF2B5EF4-FFF2-40B4-BE49-F238E27FC236}">
                <a16:creationId xmlns:a16="http://schemas.microsoft.com/office/drawing/2014/main" id="{C6912398-E083-5343-311C-EB2AC54F23EC}"/>
              </a:ext>
            </a:extLst>
          </p:cNvPr>
          <p:cNvPicPr>
            <a:picLocks noChangeAspect="1"/>
          </p:cNvPicPr>
          <p:nvPr/>
        </p:nvPicPr>
        <p:blipFill>
          <a:blip r:embed="rId2"/>
          <a:stretch>
            <a:fillRect/>
          </a:stretch>
        </p:blipFill>
        <p:spPr>
          <a:xfrm>
            <a:off x="4315331" y="4033458"/>
            <a:ext cx="2972058" cy="1432684"/>
          </a:xfrm>
          <a:prstGeom prst="rect">
            <a:avLst/>
          </a:prstGeom>
        </p:spPr>
      </p:pic>
    </p:spTree>
    <p:extLst>
      <p:ext uri="{BB962C8B-B14F-4D97-AF65-F5344CB8AC3E}">
        <p14:creationId xmlns:p14="http://schemas.microsoft.com/office/powerpoint/2010/main" val="625575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93CF0-F6BC-931B-2AB4-7D3D88391794}"/>
              </a:ext>
            </a:extLst>
          </p:cNvPr>
          <p:cNvSpPr>
            <a:spLocks noGrp="1"/>
          </p:cNvSpPr>
          <p:nvPr>
            <p:ph type="title"/>
          </p:nvPr>
        </p:nvSpPr>
        <p:spPr/>
        <p:txBody>
          <a:bodyPr/>
          <a:lstStyle/>
          <a:p>
            <a:r>
              <a:rPr lang="en-IN" dirty="0"/>
              <a:t>Average Hospital Stay</a:t>
            </a:r>
          </a:p>
        </p:txBody>
      </p:sp>
      <p:sp>
        <p:nvSpPr>
          <p:cNvPr id="3" name="Content Placeholder 2">
            <a:extLst>
              <a:ext uri="{FF2B5EF4-FFF2-40B4-BE49-F238E27FC236}">
                <a16:creationId xmlns:a16="http://schemas.microsoft.com/office/drawing/2014/main" id="{ADDEA5D3-1514-E7B4-C989-5C79013CD34B}"/>
              </a:ext>
            </a:extLst>
          </p:cNvPr>
          <p:cNvSpPr>
            <a:spLocks noGrp="1"/>
          </p:cNvSpPr>
          <p:nvPr>
            <p:ph sz="quarter" idx="1"/>
          </p:nvPr>
        </p:nvSpPr>
        <p:spPr/>
        <p:txBody>
          <a:bodyPr/>
          <a:lstStyle/>
          <a:p>
            <a:r>
              <a:rPr lang="en-US" dirty="0"/>
              <a:t>SELECTROUND(AVG(DATEDIFF(</a:t>
            </a:r>
            <a:r>
              <a:rPr lang="en-US" dirty="0" err="1"/>
              <a:t>discharge_date,admission_date</a:t>
            </a:r>
            <a:r>
              <a:rPr lang="en-US" dirty="0"/>
              <a:t>)),2)AS </a:t>
            </a:r>
            <a:r>
              <a:rPr lang="en-US" dirty="0" err="1"/>
              <a:t>Average_StayFROM</a:t>
            </a:r>
            <a:r>
              <a:rPr lang="en-US" dirty="0"/>
              <a:t> Admissions;</a:t>
            </a:r>
            <a:endParaRPr lang="en-IN" dirty="0"/>
          </a:p>
        </p:txBody>
      </p:sp>
      <p:pic>
        <p:nvPicPr>
          <p:cNvPr id="5" name="Picture 4">
            <a:extLst>
              <a:ext uri="{FF2B5EF4-FFF2-40B4-BE49-F238E27FC236}">
                <a16:creationId xmlns:a16="http://schemas.microsoft.com/office/drawing/2014/main" id="{3F215B46-2853-E5DA-CB3A-994AF960940A}"/>
              </a:ext>
            </a:extLst>
          </p:cNvPr>
          <p:cNvPicPr>
            <a:picLocks noChangeAspect="1"/>
          </p:cNvPicPr>
          <p:nvPr/>
        </p:nvPicPr>
        <p:blipFill>
          <a:blip r:embed="rId2"/>
          <a:stretch>
            <a:fillRect/>
          </a:stretch>
        </p:blipFill>
        <p:spPr>
          <a:xfrm>
            <a:off x="4998641" y="3261300"/>
            <a:ext cx="1828958" cy="1371719"/>
          </a:xfrm>
          <a:prstGeom prst="rect">
            <a:avLst/>
          </a:prstGeom>
        </p:spPr>
      </p:pic>
    </p:spTree>
    <p:extLst>
      <p:ext uri="{BB962C8B-B14F-4D97-AF65-F5344CB8AC3E}">
        <p14:creationId xmlns:p14="http://schemas.microsoft.com/office/powerpoint/2010/main" val="38172985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31851-923C-98D7-FE51-C8541DA195AD}"/>
              </a:ext>
            </a:extLst>
          </p:cNvPr>
          <p:cNvSpPr>
            <a:spLocks noGrp="1"/>
          </p:cNvSpPr>
          <p:nvPr>
            <p:ph type="title"/>
          </p:nvPr>
        </p:nvSpPr>
        <p:spPr/>
        <p:txBody>
          <a:bodyPr/>
          <a:lstStyle/>
          <a:p>
            <a:r>
              <a:rPr lang="en-IN" dirty="0"/>
              <a:t>Longest Hospital Stay</a:t>
            </a:r>
          </a:p>
        </p:txBody>
      </p:sp>
      <p:sp>
        <p:nvSpPr>
          <p:cNvPr id="3" name="Content Placeholder 2">
            <a:extLst>
              <a:ext uri="{FF2B5EF4-FFF2-40B4-BE49-F238E27FC236}">
                <a16:creationId xmlns:a16="http://schemas.microsoft.com/office/drawing/2014/main" id="{58DD6F56-9EEB-2FC7-C92E-B018848D1996}"/>
              </a:ext>
            </a:extLst>
          </p:cNvPr>
          <p:cNvSpPr>
            <a:spLocks noGrp="1"/>
          </p:cNvSpPr>
          <p:nvPr>
            <p:ph sz="quarter" idx="1"/>
          </p:nvPr>
        </p:nvSpPr>
        <p:spPr/>
        <p:txBody>
          <a:bodyPr/>
          <a:lstStyle/>
          <a:p>
            <a:r>
              <a:rPr lang="en-IN" dirty="0" err="1"/>
              <a:t>SELECTp.patient_id,p.first_name,p.last_name,DATEDIFF</a:t>
            </a:r>
            <a:r>
              <a:rPr lang="en-IN" dirty="0"/>
              <a:t>(</a:t>
            </a:r>
            <a:r>
              <a:rPr lang="en-IN" dirty="0" err="1"/>
              <a:t>a.discharge_date,a.admission_date</a:t>
            </a:r>
            <a:r>
              <a:rPr lang="en-IN" dirty="0"/>
              <a:t>)AS </a:t>
            </a:r>
            <a:r>
              <a:rPr lang="en-IN" dirty="0" err="1"/>
              <a:t>Stay_DaysFROM</a:t>
            </a:r>
            <a:r>
              <a:rPr lang="en-IN" dirty="0"/>
              <a:t> Admissions </a:t>
            </a:r>
            <a:r>
              <a:rPr lang="en-IN" dirty="0" err="1"/>
              <a:t>aJOIN</a:t>
            </a:r>
            <a:r>
              <a:rPr lang="en-IN" dirty="0"/>
              <a:t> Patients </a:t>
            </a:r>
            <a:r>
              <a:rPr lang="en-IN" dirty="0" err="1"/>
              <a:t>pON</a:t>
            </a:r>
            <a:r>
              <a:rPr lang="en-IN" dirty="0"/>
              <a:t> </a:t>
            </a:r>
            <a:r>
              <a:rPr lang="en-IN" dirty="0" err="1"/>
              <a:t>a.patient_id</a:t>
            </a:r>
            <a:r>
              <a:rPr lang="en-IN" dirty="0"/>
              <a:t>=</a:t>
            </a:r>
            <a:r>
              <a:rPr lang="en-IN" dirty="0" err="1"/>
              <a:t>p.patient_idORDER</a:t>
            </a:r>
            <a:r>
              <a:rPr lang="en-IN" dirty="0"/>
              <a:t> BY </a:t>
            </a:r>
            <a:r>
              <a:rPr lang="en-IN" dirty="0" err="1"/>
              <a:t>Stay_Days</a:t>
            </a:r>
            <a:r>
              <a:rPr lang="en-IN" dirty="0"/>
              <a:t> DESCLIMIT 1;</a:t>
            </a:r>
          </a:p>
        </p:txBody>
      </p:sp>
      <p:pic>
        <p:nvPicPr>
          <p:cNvPr id="5" name="Picture 4">
            <a:extLst>
              <a:ext uri="{FF2B5EF4-FFF2-40B4-BE49-F238E27FC236}">
                <a16:creationId xmlns:a16="http://schemas.microsoft.com/office/drawing/2014/main" id="{C6401E41-6CAE-7548-EC1D-64B4E37A13D1}"/>
              </a:ext>
            </a:extLst>
          </p:cNvPr>
          <p:cNvPicPr>
            <a:picLocks noChangeAspect="1"/>
          </p:cNvPicPr>
          <p:nvPr/>
        </p:nvPicPr>
        <p:blipFill>
          <a:blip r:embed="rId2"/>
          <a:stretch>
            <a:fillRect/>
          </a:stretch>
        </p:blipFill>
        <p:spPr>
          <a:xfrm>
            <a:off x="4272131" y="3940755"/>
            <a:ext cx="3444538" cy="1272650"/>
          </a:xfrm>
          <a:prstGeom prst="rect">
            <a:avLst/>
          </a:prstGeom>
        </p:spPr>
      </p:pic>
    </p:spTree>
    <p:extLst>
      <p:ext uri="{BB962C8B-B14F-4D97-AF65-F5344CB8AC3E}">
        <p14:creationId xmlns:p14="http://schemas.microsoft.com/office/powerpoint/2010/main" val="4106098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1EC3C-9AEA-7996-03D0-C1CBB2DE16EA}"/>
              </a:ext>
            </a:extLst>
          </p:cNvPr>
          <p:cNvSpPr>
            <a:spLocks noGrp="1"/>
          </p:cNvSpPr>
          <p:nvPr>
            <p:ph type="title"/>
          </p:nvPr>
        </p:nvSpPr>
        <p:spPr/>
        <p:txBody>
          <a:bodyPr/>
          <a:lstStyle/>
          <a:p>
            <a:r>
              <a:rPr lang="en-US" dirty="0"/>
              <a:t>Insurance Company with Highest Claims</a:t>
            </a:r>
            <a:endParaRPr lang="en-IN" dirty="0"/>
          </a:p>
        </p:txBody>
      </p:sp>
      <p:sp>
        <p:nvSpPr>
          <p:cNvPr id="3" name="Content Placeholder 2">
            <a:extLst>
              <a:ext uri="{FF2B5EF4-FFF2-40B4-BE49-F238E27FC236}">
                <a16:creationId xmlns:a16="http://schemas.microsoft.com/office/drawing/2014/main" id="{6346F3CF-4E3E-CDD2-3D59-E7B62EF08FCA}"/>
              </a:ext>
            </a:extLst>
          </p:cNvPr>
          <p:cNvSpPr>
            <a:spLocks noGrp="1"/>
          </p:cNvSpPr>
          <p:nvPr>
            <p:ph sz="quarter" idx="1"/>
          </p:nvPr>
        </p:nvSpPr>
        <p:spPr/>
        <p:txBody>
          <a:bodyPr/>
          <a:lstStyle/>
          <a:p>
            <a:r>
              <a:rPr lang="en-US" dirty="0" err="1"/>
              <a:t>SELECTcompany_name,SUM</a:t>
            </a:r>
            <a:r>
              <a:rPr lang="en-US" dirty="0"/>
              <a:t>(</a:t>
            </a:r>
            <a:r>
              <a:rPr lang="en-US" dirty="0" err="1"/>
              <a:t>claim_amount</a:t>
            </a:r>
            <a:r>
              <a:rPr lang="en-US" dirty="0"/>
              <a:t>) AS </a:t>
            </a:r>
            <a:r>
              <a:rPr lang="en-US" dirty="0" err="1"/>
              <a:t>Total_ClaimsFROM</a:t>
            </a:r>
            <a:r>
              <a:rPr lang="en-US" dirty="0"/>
              <a:t> </a:t>
            </a:r>
            <a:r>
              <a:rPr lang="en-US" dirty="0" err="1"/>
              <a:t>InsuranceGROUP</a:t>
            </a:r>
            <a:r>
              <a:rPr lang="en-US" dirty="0"/>
              <a:t> BY </a:t>
            </a:r>
            <a:r>
              <a:rPr lang="en-US" dirty="0" err="1"/>
              <a:t>company_nameORDER</a:t>
            </a:r>
            <a:r>
              <a:rPr lang="en-US" dirty="0"/>
              <a:t> BY </a:t>
            </a:r>
            <a:r>
              <a:rPr lang="en-US" dirty="0" err="1"/>
              <a:t>Total_Claims</a:t>
            </a:r>
            <a:r>
              <a:rPr lang="en-US" dirty="0"/>
              <a:t> DESCLIMIT 1;</a:t>
            </a:r>
            <a:endParaRPr lang="en-IN" dirty="0"/>
          </a:p>
        </p:txBody>
      </p:sp>
      <p:pic>
        <p:nvPicPr>
          <p:cNvPr id="5" name="Picture 4">
            <a:extLst>
              <a:ext uri="{FF2B5EF4-FFF2-40B4-BE49-F238E27FC236}">
                <a16:creationId xmlns:a16="http://schemas.microsoft.com/office/drawing/2014/main" id="{3B9F0BF2-3FA4-F8E5-7545-B0B51A1DDAFA}"/>
              </a:ext>
            </a:extLst>
          </p:cNvPr>
          <p:cNvPicPr>
            <a:picLocks noChangeAspect="1"/>
          </p:cNvPicPr>
          <p:nvPr/>
        </p:nvPicPr>
        <p:blipFill>
          <a:blip r:embed="rId2"/>
          <a:stretch>
            <a:fillRect/>
          </a:stretch>
        </p:blipFill>
        <p:spPr>
          <a:xfrm>
            <a:off x="4574431" y="3429000"/>
            <a:ext cx="2514818" cy="1234547"/>
          </a:xfrm>
          <a:prstGeom prst="rect">
            <a:avLst/>
          </a:prstGeom>
        </p:spPr>
      </p:pic>
    </p:spTree>
    <p:extLst>
      <p:ext uri="{BB962C8B-B14F-4D97-AF65-F5344CB8AC3E}">
        <p14:creationId xmlns:p14="http://schemas.microsoft.com/office/powerpoint/2010/main" val="13988256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C233E-8C4A-B9B1-3954-B716FD30E36C}"/>
              </a:ext>
            </a:extLst>
          </p:cNvPr>
          <p:cNvSpPr>
            <a:spLocks noGrp="1"/>
          </p:cNvSpPr>
          <p:nvPr>
            <p:ph type="title"/>
          </p:nvPr>
        </p:nvSpPr>
        <p:spPr/>
        <p:txBody>
          <a:bodyPr/>
          <a:lstStyle/>
          <a:p>
            <a:r>
              <a:rPr lang="en-IN" dirty="0"/>
              <a:t>Room Occupancy</a:t>
            </a:r>
          </a:p>
        </p:txBody>
      </p:sp>
      <p:sp>
        <p:nvSpPr>
          <p:cNvPr id="3" name="Content Placeholder 2">
            <a:extLst>
              <a:ext uri="{FF2B5EF4-FFF2-40B4-BE49-F238E27FC236}">
                <a16:creationId xmlns:a16="http://schemas.microsoft.com/office/drawing/2014/main" id="{45E4794E-43F0-97DB-B860-075C843F65BD}"/>
              </a:ext>
            </a:extLst>
          </p:cNvPr>
          <p:cNvSpPr>
            <a:spLocks noGrp="1"/>
          </p:cNvSpPr>
          <p:nvPr>
            <p:ph sz="quarter" idx="1"/>
          </p:nvPr>
        </p:nvSpPr>
        <p:spPr/>
        <p:txBody>
          <a:bodyPr/>
          <a:lstStyle/>
          <a:p>
            <a:r>
              <a:rPr lang="en-IN" dirty="0" err="1"/>
              <a:t>SELECTr.room_type,COUNT</a:t>
            </a:r>
            <a:r>
              <a:rPr lang="en-IN" dirty="0"/>
              <a:t>(</a:t>
            </a:r>
            <a:r>
              <a:rPr lang="en-IN" dirty="0" err="1"/>
              <a:t>a.room_id</a:t>
            </a:r>
            <a:r>
              <a:rPr lang="en-IN" dirty="0"/>
              <a:t>) AS </a:t>
            </a:r>
            <a:r>
              <a:rPr lang="en-IN" dirty="0" err="1"/>
              <a:t>OccupiedFROM</a:t>
            </a:r>
            <a:r>
              <a:rPr lang="en-IN" dirty="0"/>
              <a:t> Rooms </a:t>
            </a:r>
            <a:r>
              <a:rPr lang="en-IN" dirty="0" err="1"/>
              <a:t>rLEFT</a:t>
            </a:r>
            <a:r>
              <a:rPr lang="en-IN" dirty="0"/>
              <a:t> JOIN Admissions </a:t>
            </a:r>
            <a:r>
              <a:rPr lang="en-IN" dirty="0" err="1"/>
              <a:t>aON</a:t>
            </a:r>
            <a:r>
              <a:rPr lang="en-IN" dirty="0"/>
              <a:t> </a:t>
            </a:r>
            <a:r>
              <a:rPr lang="en-IN" dirty="0" err="1"/>
              <a:t>r.room_id</a:t>
            </a:r>
            <a:r>
              <a:rPr lang="en-IN" dirty="0"/>
              <a:t>=</a:t>
            </a:r>
            <a:r>
              <a:rPr lang="en-IN" dirty="0" err="1"/>
              <a:t>a.room_idGROUP</a:t>
            </a:r>
            <a:r>
              <a:rPr lang="en-IN" dirty="0"/>
              <a:t> BY </a:t>
            </a:r>
            <a:r>
              <a:rPr lang="en-IN" dirty="0" err="1"/>
              <a:t>r.room_type</a:t>
            </a:r>
            <a:r>
              <a:rPr lang="en-IN" dirty="0"/>
              <a:t>;</a:t>
            </a:r>
          </a:p>
        </p:txBody>
      </p:sp>
      <p:pic>
        <p:nvPicPr>
          <p:cNvPr id="5" name="Picture 4">
            <a:extLst>
              <a:ext uri="{FF2B5EF4-FFF2-40B4-BE49-F238E27FC236}">
                <a16:creationId xmlns:a16="http://schemas.microsoft.com/office/drawing/2014/main" id="{E88C1B85-D83A-A3C6-82EA-A47283CC526B}"/>
              </a:ext>
            </a:extLst>
          </p:cNvPr>
          <p:cNvPicPr>
            <a:picLocks noChangeAspect="1"/>
          </p:cNvPicPr>
          <p:nvPr/>
        </p:nvPicPr>
        <p:blipFill>
          <a:blip r:embed="rId2"/>
          <a:stretch>
            <a:fillRect/>
          </a:stretch>
        </p:blipFill>
        <p:spPr>
          <a:xfrm>
            <a:off x="5054258" y="3608003"/>
            <a:ext cx="2034716" cy="1531753"/>
          </a:xfrm>
          <a:prstGeom prst="rect">
            <a:avLst/>
          </a:prstGeom>
        </p:spPr>
      </p:pic>
    </p:spTree>
    <p:extLst>
      <p:ext uri="{BB962C8B-B14F-4D97-AF65-F5344CB8AC3E}">
        <p14:creationId xmlns:p14="http://schemas.microsoft.com/office/powerpoint/2010/main" val="38190563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27AE8-4C5F-1BE9-E390-74C8F497C7B4}"/>
              </a:ext>
            </a:extLst>
          </p:cNvPr>
          <p:cNvSpPr>
            <a:spLocks noGrp="1"/>
          </p:cNvSpPr>
          <p:nvPr>
            <p:ph type="title"/>
          </p:nvPr>
        </p:nvSpPr>
        <p:spPr/>
        <p:txBody>
          <a:bodyPr/>
          <a:lstStyle/>
          <a:p>
            <a:r>
              <a:rPr lang="en-IN" dirty="0"/>
              <a:t>Doctor-wise Revenue</a:t>
            </a:r>
          </a:p>
        </p:txBody>
      </p:sp>
      <p:sp>
        <p:nvSpPr>
          <p:cNvPr id="3" name="Content Placeholder 2">
            <a:extLst>
              <a:ext uri="{FF2B5EF4-FFF2-40B4-BE49-F238E27FC236}">
                <a16:creationId xmlns:a16="http://schemas.microsoft.com/office/drawing/2014/main" id="{F5F1B2DB-0242-4623-0555-1A4172F647F8}"/>
              </a:ext>
            </a:extLst>
          </p:cNvPr>
          <p:cNvSpPr>
            <a:spLocks noGrp="1"/>
          </p:cNvSpPr>
          <p:nvPr>
            <p:ph sz="quarter" idx="1"/>
          </p:nvPr>
        </p:nvSpPr>
        <p:spPr/>
        <p:txBody>
          <a:bodyPr/>
          <a:lstStyle/>
          <a:p>
            <a:r>
              <a:rPr lang="en-IN" dirty="0" err="1"/>
              <a:t>SELECTd.doctor_name,d.doctor_id,SUM</a:t>
            </a:r>
            <a:r>
              <a:rPr lang="en-IN" dirty="0"/>
              <a:t>(</a:t>
            </a:r>
            <a:r>
              <a:rPr lang="en-IN" dirty="0" err="1"/>
              <a:t>b.total_amount</a:t>
            </a:r>
            <a:r>
              <a:rPr lang="en-IN" dirty="0"/>
              <a:t>) AS </a:t>
            </a:r>
            <a:r>
              <a:rPr lang="en-IN" dirty="0" err="1"/>
              <a:t>RevenueFROM</a:t>
            </a:r>
            <a:r>
              <a:rPr lang="en-IN" dirty="0"/>
              <a:t> Doctors </a:t>
            </a:r>
            <a:r>
              <a:rPr lang="en-IN" dirty="0" err="1"/>
              <a:t>dJOIN</a:t>
            </a:r>
            <a:r>
              <a:rPr lang="en-IN" dirty="0"/>
              <a:t> Admissions </a:t>
            </a:r>
            <a:r>
              <a:rPr lang="en-IN" dirty="0" err="1"/>
              <a:t>aON</a:t>
            </a:r>
            <a:r>
              <a:rPr lang="en-IN" dirty="0"/>
              <a:t> </a:t>
            </a:r>
            <a:r>
              <a:rPr lang="en-IN" dirty="0" err="1"/>
              <a:t>d.doctor_id</a:t>
            </a:r>
            <a:r>
              <a:rPr lang="en-IN" dirty="0"/>
              <a:t>=</a:t>
            </a:r>
            <a:r>
              <a:rPr lang="en-IN" dirty="0" err="1"/>
              <a:t>a.doctor_idJOIN</a:t>
            </a:r>
            <a:r>
              <a:rPr lang="en-IN" dirty="0"/>
              <a:t> Bills </a:t>
            </a:r>
            <a:r>
              <a:rPr lang="en-IN" dirty="0" err="1"/>
              <a:t>bON</a:t>
            </a:r>
            <a:r>
              <a:rPr lang="en-IN" dirty="0"/>
              <a:t> </a:t>
            </a:r>
            <a:r>
              <a:rPr lang="en-IN" dirty="0" err="1"/>
              <a:t>a.admission_id</a:t>
            </a:r>
            <a:r>
              <a:rPr lang="en-IN" dirty="0"/>
              <a:t>=</a:t>
            </a:r>
            <a:r>
              <a:rPr lang="en-IN" dirty="0" err="1"/>
              <a:t>b.admission_idGROUP</a:t>
            </a:r>
            <a:r>
              <a:rPr lang="en-IN" dirty="0"/>
              <a:t> BY </a:t>
            </a:r>
            <a:r>
              <a:rPr lang="en-IN" dirty="0" err="1"/>
              <a:t>d.doctor_idORDER</a:t>
            </a:r>
            <a:r>
              <a:rPr lang="en-IN" dirty="0"/>
              <a:t> BY Revenue DESC;</a:t>
            </a:r>
          </a:p>
        </p:txBody>
      </p:sp>
      <p:pic>
        <p:nvPicPr>
          <p:cNvPr id="5" name="Picture 4">
            <a:extLst>
              <a:ext uri="{FF2B5EF4-FFF2-40B4-BE49-F238E27FC236}">
                <a16:creationId xmlns:a16="http://schemas.microsoft.com/office/drawing/2014/main" id="{E25D2983-92C7-03C8-ABF4-5A4940D26907}"/>
              </a:ext>
            </a:extLst>
          </p:cNvPr>
          <p:cNvPicPr>
            <a:picLocks noChangeAspect="1"/>
          </p:cNvPicPr>
          <p:nvPr/>
        </p:nvPicPr>
        <p:blipFill>
          <a:blip r:embed="rId2"/>
          <a:stretch>
            <a:fillRect/>
          </a:stretch>
        </p:blipFill>
        <p:spPr>
          <a:xfrm>
            <a:off x="5556130" y="3429000"/>
            <a:ext cx="2766300" cy="2682472"/>
          </a:xfrm>
          <a:prstGeom prst="rect">
            <a:avLst/>
          </a:prstGeom>
        </p:spPr>
      </p:pic>
    </p:spTree>
    <p:extLst>
      <p:ext uri="{BB962C8B-B14F-4D97-AF65-F5344CB8AC3E}">
        <p14:creationId xmlns:p14="http://schemas.microsoft.com/office/powerpoint/2010/main" val="30378187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3ADC4-60A0-922F-44FF-EB824009B681}"/>
              </a:ext>
            </a:extLst>
          </p:cNvPr>
          <p:cNvSpPr>
            <a:spLocks noGrp="1"/>
          </p:cNvSpPr>
          <p:nvPr>
            <p:ph type="title"/>
          </p:nvPr>
        </p:nvSpPr>
        <p:spPr/>
        <p:txBody>
          <a:bodyPr/>
          <a:lstStyle/>
          <a:p>
            <a:r>
              <a:rPr lang="en-IN" dirty="0"/>
              <a:t>Department-wise Average Salary</a:t>
            </a:r>
          </a:p>
        </p:txBody>
      </p:sp>
      <p:sp>
        <p:nvSpPr>
          <p:cNvPr id="3" name="Content Placeholder 2">
            <a:extLst>
              <a:ext uri="{FF2B5EF4-FFF2-40B4-BE49-F238E27FC236}">
                <a16:creationId xmlns:a16="http://schemas.microsoft.com/office/drawing/2014/main" id="{740B528F-95AA-5327-D1FC-A66BE68AA590}"/>
              </a:ext>
            </a:extLst>
          </p:cNvPr>
          <p:cNvSpPr>
            <a:spLocks noGrp="1"/>
          </p:cNvSpPr>
          <p:nvPr>
            <p:ph sz="quarter" idx="1"/>
          </p:nvPr>
        </p:nvSpPr>
        <p:spPr/>
        <p:txBody>
          <a:bodyPr/>
          <a:lstStyle/>
          <a:p>
            <a:r>
              <a:rPr lang="en-IN" dirty="0" err="1"/>
              <a:t>SELECTdep.department_name,ROUND</a:t>
            </a:r>
            <a:r>
              <a:rPr lang="en-IN" dirty="0"/>
              <a:t>(AVG(</a:t>
            </a:r>
            <a:r>
              <a:rPr lang="en-IN" dirty="0" err="1"/>
              <a:t>s.net_salary</a:t>
            </a:r>
            <a:r>
              <a:rPr lang="en-IN" dirty="0"/>
              <a:t>),2) </a:t>
            </a:r>
            <a:r>
              <a:rPr lang="en-IN" dirty="0" err="1"/>
              <a:t>Average_SalaryFROM</a:t>
            </a:r>
            <a:r>
              <a:rPr lang="en-IN" dirty="0"/>
              <a:t> Doctors </a:t>
            </a:r>
            <a:r>
              <a:rPr lang="en-IN" dirty="0" err="1"/>
              <a:t>dJOIN</a:t>
            </a:r>
            <a:r>
              <a:rPr lang="en-IN" dirty="0"/>
              <a:t> Salary </a:t>
            </a:r>
            <a:r>
              <a:rPr lang="en-IN" dirty="0" err="1"/>
              <a:t>sON</a:t>
            </a:r>
            <a:r>
              <a:rPr lang="en-IN" dirty="0"/>
              <a:t> </a:t>
            </a:r>
            <a:r>
              <a:rPr lang="en-IN" dirty="0" err="1"/>
              <a:t>d.doctor_id</a:t>
            </a:r>
            <a:r>
              <a:rPr lang="en-IN" dirty="0"/>
              <a:t>=</a:t>
            </a:r>
            <a:r>
              <a:rPr lang="en-IN" dirty="0" err="1"/>
              <a:t>s.doctor_idJOIN</a:t>
            </a:r>
            <a:r>
              <a:rPr lang="en-IN" dirty="0"/>
              <a:t> Departments </a:t>
            </a:r>
            <a:r>
              <a:rPr lang="en-IN" dirty="0" err="1"/>
              <a:t>depON</a:t>
            </a:r>
            <a:r>
              <a:rPr lang="en-IN" dirty="0"/>
              <a:t> </a:t>
            </a:r>
            <a:r>
              <a:rPr lang="en-IN" dirty="0" err="1"/>
              <a:t>d.department_id</a:t>
            </a:r>
            <a:r>
              <a:rPr lang="en-IN" dirty="0"/>
              <a:t>=</a:t>
            </a:r>
            <a:r>
              <a:rPr lang="en-IN" dirty="0" err="1"/>
              <a:t>dep.department_idGROUP</a:t>
            </a:r>
            <a:r>
              <a:rPr lang="en-IN" dirty="0"/>
              <a:t> BY </a:t>
            </a:r>
            <a:r>
              <a:rPr lang="en-IN" dirty="0" err="1"/>
              <a:t>dep.department_name</a:t>
            </a:r>
            <a:r>
              <a:rPr lang="en-IN" dirty="0"/>
              <a:t>;</a:t>
            </a:r>
          </a:p>
        </p:txBody>
      </p:sp>
      <p:pic>
        <p:nvPicPr>
          <p:cNvPr id="5" name="Picture 4">
            <a:extLst>
              <a:ext uri="{FF2B5EF4-FFF2-40B4-BE49-F238E27FC236}">
                <a16:creationId xmlns:a16="http://schemas.microsoft.com/office/drawing/2014/main" id="{C13E45D3-1382-7FDB-9200-6F0ABF4034AD}"/>
              </a:ext>
            </a:extLst>
          </p:cNvPr>
          <p:cNvPicPr>
            <a:picLocks noChangeAspect="1"/>
          </p:cNvPicPr>
          <p:nvPr/>
        </p:nvPicPr>
        <p:blipFill>
          <a:blip r:embed="rId2"/>
          <a:stretch>
            <a:fillRect/>
          </a:stretch>
        </p:blipFill>
        <p:spPr>
          <a:xfrm>
            <a:off x="8587626" y="2945003"/>
            <a:ext cx="2636748" cy="2918713"/>
          </a:xfrm>
          <a:prstGeom prst="rect">
            <a:avLst/>
          </a:prstGeom>
        </p:spPr>
      </p:pic>
    </p:spTree>
    <p:extLst>
      <p:ext uri="{BB962C8B-B14F-4D97-AF65-F5344CB8AC3E}">
        <p14:creationId xmlns:p14="http://schemas.microsoft.com/office/powerpoint/2010/main" val="39161014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679FC-82AC-CC95-A25B-32A66B867C21}"/>
              </a:ext>
            </a:extLst>
          </p:cNvPr>
          <p:cNvSpPr>
            <a:spLocks noGrp="1"/>
          </p:cNvSpPr>
          <p:nvPr>
            <p:ph type="title"/>
          </p:nvPr>
        </p:nvSpPr>
        <p:spPr/>
        <p:txBody>
          <a:bodyPr>
            <a:normAutofit/>
          </a:bodyPr>
          <a:lstStyle/>
          <a:p>
            <a:r>
              <a:rPr lang="en-US" dirty="0"/>
              <a:t>Doctors Earning More Than Department Average </a:t>
            </a:r>
            <a:endParaRPr lang="en-IN" dirty="0"/>
          </a:p>
        </p:txBody>
      </p:sp>
      <p:sp>
        <p:nvSpPr>
          <p:cNvPr id="3" name="Content Placeholder 2">
            <a:extLst>
              <a:ext uri="{FF2B5EF4-FFF2-40B4-BE49-F238E27FC236}">
                <a16:creationId xmlns:a16="http://schemas.microsoft.com/office/drawing/2014/main" id="{9FAC788B-E7A4-D04D-B893-1CD801EE0E3C}"/>
              </a:ext>
            </a:extLst>
          </p:cNvPr>
          <p:cNvSpPr>
            <a:spLocks noGrp="1"/>
          </p:cNvSpPr>
          <p:nvPr>
            <p:ph sz="quarter" idx="1"/>
          </p:nvPr>
        </p:nvSpPr>
        <p:spPr/>
        <p:txBody>
          <a:bodyPr/>
          <a:lstStyle/>
          <a:p>
            <a:r>
              <a:rPr lang="en-IN" dirty="0" err="1"/>
              <a:t>SELECTd.doctor_name,s.net_salaryFROM</a:t>
            </a:r>
            <a:r>
              <a:rPr lang="en-IN" dirty="0"/>
              <a:t> Doctors </a:t>
            </a:r>
            <a:r>
              <a:rPr lang="en-IN" dirty="0" err="1"/>
              <a:t>dJOIN</a:t>
            </a:r>
            <a:r>
              <a:rPr lang="en-IN" dirty="0"/>
              <a:t> Salary </a:t>
            </a:r>
            <a:r>
              <a:rPr lang="en-IN" dirty="0" err="1"/>
              <a:t>sON</a:t>
            </a:r>
            <a:r>
              <a:rPr lang="en-IN" dirty="0"/>
              <a:t> </a:t>
            </a:r>
            <a:r>
              <a:rPr lang="en-IN" dirty="0" err="1"/>
              <a:t>d.doctor_id</a:t>
            </a:r>
            <a:r>
              <a:rPr lang="en-IN" dirty="0"/>
              <a:t>=</a:t>
            </a:r>
            <a:r>
              <a:rPr lang="en-IN" dirty="0" err="1"/>
              <a:t>s.doctor_idWHERE</a:t>
            </a:r>
            <a:r>
              <a:rPr lang="en-IN" dirty="0"/>
              <a:t> </a:t>
            </a:r>
            <a:r>
              <a:rPr lang="en-IN" dirty="0" err="1"/>
              <a:t>s.net_salary</a:t>
            </a:r>
            <a:r>
              <a:rPr lang="en-IN" dirty="0"/>
              <a:t> &gt;(SELECT AVG(s2.net_salary)FROM Doctors d2JOIN Salary s2ON d2.doctor_id=s2.doctor_idWHERE d2.department_id=</a:t>
            </a:r>
            <a:r>
              <a:rPr lang="en-IN" dirty="0" err="1"/>
              <a:t>d.department_id</a:t>
            </a:r>
            <a:r>
              <a:rPr lang="en-IN" dirty="0"/>
              <a:t>);</a:t>
            </a:r>
          </a:p>
        </p:txBody>
      </p:sp>
      <p:pic>
        <p:nvPicPr>
          <p:cNvPr id="5" name="Picture 4">
            <a:extLst>
              <a:ext uri="{FF2B5EF4-FFF2-40B4-BE49-F238E27FC236}">
                <a16:creationId xmlns:a16="http://schemas.microsoft.com/office/drawing/2014/main" id="{02DDA7F5-EE03-6FFC-3FD0-17857AF229DA}"/>
              </a:ext>
            </a:extLst>
          </p:cNvPr>
          <p:cNvPicPr>
            <a:picLocks noChangeAspect="1"/>
          </p:cNvPicPr>
          <p:nvPr/>
        </p:nvPicPr>
        <p:blipFill>
          <a:blip r:embed="rId2"/>
          <a:stretch>
            <a:fillRect/>
          </a:stretch>
        </p:blipFill>
        <p:spPr>
          <a:xfrm>
            <a:off x="4958999" y="4058302"/>
            <a:ext cx="2225233" cy="1272650"/>
          </a:xfrm>
          <a:prstGeom prst="rect">
            <a:avLst/>
          </a:prstGeom>
        </p:spPr>
      </p:pic>
    </p:spTree>
    <p:extLst>
      <p:ext uri="{BB962C8B-B14F-4D97-AF65-F5344CB8AC3E}">
        <p14:creationId xmlns:p14="http://schemas.microsoft.com/office/powerpoint/2010/main" val="38328895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0FC3E-4200-C955-0161-31BC82A588F4}"/>
              </a:ext>
            </a:extLst>
          </p:cNvPr>
          <p:cNvSpPr>
            <a:spLocks noGrp="1"/>
          </p:cNvSpPr>
          <p:nvPr>
            <p:ph type="title"/>
          </p:nvPr>
        </p:nvSpPr>
        <p:spPr/>
        <p:txBody>
          <a:bodyPr/>
          <a:lstStyle/>
          <a:p>
            <a:r>
              <a:rPr lang="en-US" dirty="0"/>
              <a:t>Patients Having Insurance and Pending Bills </a:t>
            </a:r>
            <a:endParaRPr lang="en-IN" dirty="0"/>
          </a:p>
        </p:txBody>
      </p:sp>
      <p:sp>
        <p:nvSpPr>
          <p:cNvPr id="3" name="Content Placeholder 2">
            <a:extLst>
              <a:ext uri="{FF2B5EF4-FFF2-40B4-BE49-F238E27FC236}">
                <a16:creationId xmlns:a16="http://schemas.microsoft.com/office/drawing/2014/main" id="{6CE81368-6F0F-2330-3A18-070CD9550695}"/>
              </a:ext>
            </a:extLst>
          </p:cNvPr>
          <p:cNvSpPr>
            <a:spLocks noGrp="1"/>
          </p:cNvSpPr>
          <p:nvPr>
            <p:ph sz="quarter" idx="1"/>
          </p:nvPr>
        </p:nvSpPr>
        <p:spPr/>
        <p:txBody>
          <a:bodyPr/>
          <a:lstStyle/>
          <a:p>
            <a:r>
              <a:rPr lang="en-IN" dirty="0" err="1"/>
              <a:t>SELECTp.patient_id,p.first_name,p.last_nameFROM</a:t>
            </a:r>
            <a:r>
              <a:rPr lang="en-IN" dirty="0"/>
              <a:t> Patients </a:t>
            </a:r>
            <a:r>
              <a:rPr lang="en-IN" dirty="0" err="1"/>
              <a:t>pWHERE</a:t>
            </a:r>
            <a:r>
              <a:rPr lang="en-IN" dirty="0"/>
              <a:t> EXISTS(SELECT 1FROM Insurance </a:t>
            </a:r>
            <a:r>
              <a:rPr lang="en-IN" dirty="0" err="1"/>
              <a:t>iWHERE</a:t>
            </a:r>
            <a:r>
              <a:rPr lang="en-IN" dirty="0"/>
              <a:t> </a:t>
            </a:r>
            <a:r>
              <a:rPr lang="en-IN" dirty="0" err="1"/>
              <a:t>i.patient_id</a:t>
            </a:r>
            <a:r>
              <a:rPr lang="en-IN" dirty="0"/>
              <a:t>=</a:t>
            </a:r>
            <a:r>
              <a:rPr lang="en-IN" dirty="0" err="1"/>
              <a:t>p.patient_id</a:t>
            </a:r>
            <a:r>
              <a:rPr lang="en-IN" dirty="0"/>
              <a:t>)AND EXISTS(SELECT 1FROM Bills </a:t>
            </a:r>
            <a:r>
              <a:rPr lang="en-IN" dirty="0" err="1"/>
              <a:t>bWHERE</a:t>
            </a:r>
            <a:r>
              <a:rPr lang="en-IN" dirty="0"/>
              <a:t> </a:t>
            </a:r>
            <a:r>
              <a:rPr lang="en-IN" dirty="0" err="1"/>
              <a:t>b.patient_id</a:t>
            </a:r>
            <a:r>
              <a:rPr lang="en-IN" dirty="0"/>
              <a:t>=</a:t>
            </a:r>
            <a:r>
              <a:rPr lang="en-IN" dirty="0" err="1"/>
              <a:t>p.patient_idAND</a:t>
            </a:r>
            <a:r>
              <a:rPr lang="en-IN" dirty="0"/>
              <a:t> </a:t>
            </a:r>
            <a:r>
              <a:rPr lang="en-IN" dirty="0" err="1"/>
              <a:t>b.payment_status</a:t>
            </a:r>
            <a:r>
              <a:rPr lang="en-IN" dirty="0"/>
              <a:t>='Pending');</a:t>
            </a:r>
          </a:p>
        </p:txBody>
      </p:sp>
      <p:pic>
        <p:nvPicPr>
          <p:cNvPr id="5" name="Picture 4">
            <a:extLst>
              <a:ext uri="{FF2B5EF4-FFF2-40B4-BE49-F238E27FC236}">
                <a16:creationId xmlns:a16="http://schemas.microsoft.com/office/drawing/2014/main" id="{7A449F19-FC64-9F49-9E6F-8E47F6713325}"/>
              </a:ext>
            </a:extLst>
          </p:cNvPr>
          <p:cNvPicPr>
            <a:picLocks noChangeAspect="1"/>
          </p:cNvPicPr>
          <p:nvPr/>
        </p:nvPicPr>
        <p:blipFill>
          <a:blip r:embed="rId2"/>
          <a:stretch>
            <a:fillRect/>
          </a:stretch>
        </p:blipFill>
        <p:spPr>
          <a:xfrm>
            <a:off x="4797938" y="3813048"/>
            <a:ext cx="2819644" cy="2179509"/>
          </a:xfrm>
          <a:prstGeom prst="rect">
            <a:avLst/>
          </a:prstGeom>
        </p:spPr>
      </p:pic>
    </p:spTree>
    <p:extLst>
      <p:ext uri="{BB962C8B-B14F-4D97-AF65-F5344CB8AC3E}">
        <p14:creationId xmlns:p14="http://schemas.microsoft.com/office/powerpoint/2010/main" val="31777692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4A808-C55C-B82C-02F9-13DAB1960ED0}"/>
              </a:ext>
            </a:extLst>
          </p:cNvPr>
          <p:cNvSpPr>
            <a:spLocks noGrp="1"/>
          </p:cNvSpPr>
          <p:nvPr>
            <p:ph type="title"/>
          </p:nvPr>
        </p:nvSpPr>
        <p:spPr/>
        <p:txBody>
          <a:bodyPr/>
          <a:lstStyle/>
          <a:p>
            <a:r>
              <a:rPr lang="en-IN" dirty="0"/>
              <a:t>Medicines Never Prescribed </a:t>
            </a:r>
          </a:p>
        </p:txBody>
      </p:sp>
      <p:sp>
        <p:nvSpPr>
          <p:cNvPr id="3" name="Content Placeholder 2">
            <a:extLst>
              <a:ext uri="{FF2B5EF4-FFF2-40B4-BE49-F238E27FC236}">
                <a16:creationId xmlns:a16="http://schemas.microsoft.com/office/drawing/2014/main" id="{0AF7A354-2662-5BB7-3738-16FC6C33AC84}"/>
              </a:ext>
            </a:extLst>
          </p:cNvPr>
          <p:cNvSpPr>
            <a:spLocks noGrp="1"/>
          </p:cNvSpPr>
          <p:nvPr>
            <p:ph sz="quarter" idx="1"/>
          </p:nvPr>
        </p:nvSpPr>
        <p:spPr/>
        <p:txBody>
          <a:bodyPr/>
          <a:lstStyle/>
          <a:p>
            <a:r>
              <a:rPr lang="en-US" dirty="0" err="1"/>
              <a:t>SELECTm.medicine_nameFROM</a:t>
            </a:r>
            <a:r>
              <a:rPr lang="en-US" dirty="0"/>
              <a:t> Medicines </a:t>
            </a:r>
            <a:r>
              <a:rPr lang="en-US" dirty="0" err="1"/>
              <a:t>mWHERE</a:t>
            </a:r>
            <a:r>
              <a:rPr lang="en-US" dirty="0"/>
              <a:t> NOT EXISTS(SELECT 1FROM Prescriptions </a:t>
            </a:r>
            <a:r>
              <a:rPr lang="en-US" dirty="0" err="1"/>
              <a:t>pWHERE</a:t>
            </a:r>
            <a:r>
              <a:rPr lang="en-US" dirty="0"/>
              <a:t> </a:t>
            </a:r>
            <a:r>
              <a:rPr lang="en-US" dirty="0" err="1"/>
              <a:t>p.medicine_id</a:t>
            </a:r>
            <a:r>
              <a:rPr lang="en-US" dirty="0"/>
              <a:t>=</a:t>
            </a:r>
            <a:r>
              <a:rPr lang="en-US" dirty="0" err="1"/>
              <a:t>m.medicine_id</a:t>
            </a:r>
            <a:r>
              <a:rPr lang="en-US" dirty="0"/>
              <a:t>);</a:t>
            </a:r>
            <a:endParaRPr lang="en-IN" dirty="0"/>
          </a:p>
        </p:txBody>
      </p:sp>
      <p:pic>
        <p:nvPicPr>
          <p:cNvPr id="5" name="Picture 4">
            <a:extLst>
              <a:ext uri="{FF2B5EF4-FFF2-40B4-BE49-F238E27FC236}">
                <a16:creationId xmlns:a16="http://schemas.microsoft.com/office/drawing/2014/main" id="{5C303239-19FA-3BC5-E39A-423B6E1F2DAA}"/>
              </a:ext>
            </a:extLst>
          </p:cNvPr>
          <p:cNvPicPr>
            <a:picLocks noChangeAspect="1"/>
          </p:cNvPicPr>
          <p:nvPr/>
        </p:nvPicPr>
        <p:blipFill>
          <a:blip r:embed="rId2"/>
          <a:stretch>
            <a:fillRect/>
          </a:stretch>
        </p:blipFill>
        <p:spPr>
          <a:xfrm>
            <a:off x="5182778" y="3813048"/>
            <a:ext cx="2110923" cy="1486029"/>
          </a:xfrm>
          <a:prstGeom prst="rect">
            <a:avLst/>
          </a:prstGeom>
        </p:spPr>
      </p:pic>
    </p:spTree>
    <p:extLst>
      <p:ext uri="{BB962C8B-B14F-4D97-AF65-F5344CB8AC3E}">
        <p14:creationId xmlns:p14="http://schemas.microsoft.com/office/powerpoint/2010/main" val="38360653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C8D72-C868-4FCD-60A6-AD273F34028C}"/>
              </a:ext>
            </a:extLst>
          </p:cNvPr>
          <p:cNvSpPr>
            <a:spLocks noGrp="1"/>
          </p:cNvSpPr>
          <p:nvPr>
            <p:ph type="title"/>
          </p:nvPr>
        </p:nvSpPr>
        <p:spPr/>
        <p:txBody>
          <a:bodyPr/>
          <a:lstStyle/>
          <a:p>
            <a:r>
              <a:rPr lang="en-IN" dirty="0"/>
              <a:t> Top Revenue Department</a:t>
            </a:r>
          </a:p>
        </p:txBody>
      </p:sp>
      <p:sp>
        <p:nvSpPr>
          <p:cNvPr id="3" name="Content Placeholder 2">
            <a:extLst>
              <a:ext uri="{FF2B5EF4-FFF2-40B4-BE49-F238E27FC236}">
                <a16:creationId xmlns:a16="http://schemas.microsoft.com/office/drawing/2014/main" id="{3B34FCBE-3FB4-EACE-9893-4135A069CBB9}"/>
              </a:ext>
            </a:extLst>
          </p:cNvPr>
          <p:cNvSpPr>
            <a:spLocks noGrp="1"/>
          </p:cNvSpPr>
          <p:nvPr>
            <p:ph sz="quarter" idx="1"/>
          </p:nvPr>
        </p:nvSpPr>
        <p:spPr/>
        <p:txBody>
          <a:bodyPr/>
          <a:lstStyle/>
          <a:p>
            <a:r>
              <a:rPr lang="en-IN" dirty="0"/>
              <a:t>WITH </a:t>
            </a:r>
            <a:r>
              <a:rPr lang="en-IN" dirty="0" err="1"/>
              <a:t>RevenueCTE</a:t>
            </a:r>
            <a:r>
              <a:rPr lang="en-IN" dirty="0"/>
              <a:t>  AS(</a:t>
            </a:r>
            <a:r>
              <a:rPr lang="en-IN" dirty="0" err="1"/>
              <a:t>SELECTdep.department_name,SUM</a:t>
            </a:r>
            <a:r>
              <a:rPr lang="en-IN" dirty="0"/>
              <a:t>(</a:t>
            </a:r>
            <a:r>
              <a:rPr lang="en-IN" dirty="0" err="1"/>
              <a:t>b.total_amount</a:t>
            </a:r>
            <a:r>
              <a:rPr lang="en-IN" dirty="0"/>
              <a:t>) </a:t>
            </a:r>
            <a:r>
              <a:rPr lang="en-IN" dirty="0" err="1"/>
              <a:t>RevenueFROM</a:t>
            </a:r>
            <a:r>
              <a:rPr lang="en-IN" dirty="0"/>
              <a:t> Bills </a:t>
            </a:r>
            <a:r>
              <a:rPr lang="en-IN" dirty="0" err="1"/>
              <a:t>bJOIN</a:t>
            </a:r>
            <a:r>
              <a:rPr lang="en-IN" dirty="0"/>
              <a:t> Admissions </a:t>
            </a:r>
            <a:r>
              <a:rPr lang="en-IN" dirty="0" err="1"/>
              <a:t>aON</a:t>
            </a:r>
            <a:r>
              <a:rPr lang="en-IN" dirty="0"/>
              <a:t> </a:t>
            </a:r>
            <a:r>
              <a:rPr lang="en-IN" dirty="0" err="1"/>
              <a:t>b.admission_id</a:t>
            </a:r>
            <a:r>
              <a:rPr lang="en-IN" dirty="0"/>
              <a:t>=</a:t>
            </a:r>
            <a:r>
              <a:rPr lang="en-IN" dirty="0" err="1"/>
              <a:t>a.admission_idJOIN</a:t>
            </a:r>
            <a:r>
              <a:rPr lang="en-IN" dirty="0"/>
              <a:t> Doctors </a:t>
            </a:r>
            <a:r>
              <a:rPr lang="en-IN" dirty="0" err="1"/>
              <a:t>dON</a:t>
            </a:r>
            <a:r>
              <a:rPr lang="en-IN" dirty="0"/>
              <a:t> </a:t>
            </a:r>
            <a:r>
              <a:rPr lang="en-IN" dirty="0" err="1"/>
              <a:t>a.doctor_id</a:t>
            </a:r>
            <a:r>
              <a:rPr lang="en-IN" dirty="0"/>
              <a:t>=</a:t>
            </a:r>
            <a:r>
              <a:rPr lang="en-IN" dirty="0" err="1"/>
              <a:t>d.doctor_idJOIN</a:t>
            </a:r>
            <a:r>
              <a:rPr lang="en-IN" dirty="0"/>
              <a:t> Departments </a:t>
            </a:r>
            <a:r>
              <a:rPr lang="en-IN" dirty="0" err="1"/>
              <a:t>depON</a:t>
            </a:r>
            <a:r>
              <a:rPr lang="en-IN" dirty="0"/>
              <a:t> </a:t>
            </a:r>
            <a:r>
              <a:rPr lang="en-IN" dirty="0" err="1"/>
              <a:t>d.department_id</a:t>
            </a:r>
            <a:r>
              <a:rPr lang="en-IN" dirty="0"/>
              <a:t>=</a:t>
            </a:r>
            <a:r>
              <a:rPr lang="en-IN" dirty="0" err="1"/>
              <a:t>dep.department_idGROUP</a:t>
            </a:r>
            <a:r>
              <a:rPr lang="en-IN" dirty="0"/>
              <a:t> BY </a:t>
            </a:r>
            <a:r>
              <a:rPr lang="en-IN" dirty="0" err="1"/>
              <a:t>dep.department_name</a:t>
            </a:r>
            <a:r>
              <a:rPr lang="en-IN" dirty="0"/>
              <a:t>)SELECT *FROM </a:t>
            </a:r>
            <a:r>
              <a:rPr lang="en-IN" dirty="0" err="1"/>
              <a:t>RevenueCTEORDER</a:t>
            </a:r>
            <a:r>
              <a:rPr lang="en-IN" dirty="0"/>
              <a:t> BY Revenue DESCLIMIT 1;</a:t>
            </a:r>
          </a:p>
        </p:txBody>
      </p:sp>
      <p:pic>
        <p:nvPicPr>
          <p:cNvPr id="5" name="Picture 4">
            <a:extLst>
              <a:ext uri="{FF2B5EF4-FFF2-40B4-BE49-F238E27FC236}">
                <a16:creationId xmlns:a16="http://schemas.microsoft.com/office/drawing/2014/main" id="{4C1C4B21-7492-6239-4927-0C0EDF19751A}"/>
              </a:ext>
            </a:extLst>
          </p:cNvPr>
          <p:cNvPicPr>
            <a:picLocks noChangeAspect="1"/>
          </p:cNvPicPr>
          <p:nvPr/>
        </p:nvPicPr>
        <p:blipFill>
          <a:blip r:embed="rId2"/>
          <a:stretch>
            <a:fillRect/>
          </a:stretch>
        </p:blipFill>
        <p:spPr>
          <a:xfrm>
            <a:off x="5571363" y="4805126"/>
            <a:ext cx="2918713" cy="1051651"/>
          </a:xfrm>
          <a:prstGeom prst="rect">
            <a:avLst/>
          </a:prstGeom>
        </p:spPr>
      </p:pic>
    </p:spTree>
    <p:extLst>
      <p:ext uri="{BB962C8B-B14F-4D97-AF65-F5344CB8AC3E}">
        <p14:creationId xmlns:p14="http://schemas.microsoft.com/office/powerpoint/2010/main" val="31955839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C15AB-85E9-C977-4A1C-74C179D54508}"/>
              </a:ext>
            </a:extLst>
          </p:cNvPr>
          <p:cNvSpPr>
            <a:spLocks noGrp="1"/>
          </p:cNvSpPr>
          <p:nvPr>
            <p:ph type="title"/>
          </p:nvPr>
        </p:nvSpPr>
        <p:spPr/>
        <p:txBody>
          <a:bodyPr/>
          <a:lstStyle/>
          <a:p>
            <a:r>
              <a:rPr lang="en-US" dirty="0"/>
              <a:t>Doctors Paid More Than ALL Doctors in Department 1</a:t>
            </a:r>
            <a:endParaRPr lang="en-IN" dirty="0"/>
          </a:p>
        </p:txBody>
      </p:sp>
      <p:sp>
        <p:nvSpPr>
          <p:cNvPr id="3" name="Content Placeholder 2">
            <a:extLst>
              <a:ext uri="{FF2B5EF4-FFF2-40B4-BE49-F238E27FC236}">
                <a16:creationId xmlns:a16="http://schemas.microsoft.com/office/drawing/2014/main" id="{863D9994-23BE-C81E-EFAD-28A4A69BEA05}"/>
              </a:ext>
            </a:extLst>
          </p:cNvPr>
          <p:cNvSpPr>
            <a:spLocks noGrp="1"/>
          </p:cNvSpPr>
          <p:nvPr>
            <p:ph sz="quarter" idx="1"/>
          </p:nvPr>
        </p:nvSpPr>
        <p:spPr/>
        <p:txBody>
          <a:bodyPr/>
          <a:lstStyle/>
          <a:p>
            <a:r>
              <a:rPr lang="en-IN" dirty="0" err="1"/>
              <a:t>SELECTd.doctor_id,d.doctor_name,s.net_salaryFROM</a:t>
            </a:r>
            <a:r>
              <a:rPr lang="en-IN" dirty="0"/>
              <a:t> Doctors </a:t>
            </a:r>
            <a:r>
              <a:rPr lang="en-IN" dirty="0" err="1"/>
              <a:t>dJOIN</a:t>
            </a:r>
            <a:r>
              <a:rPr lang="en-IN" dirty="0"/>
              <a:t> Salary </a:t>
            </a:r>
            <a:r>
              <a:rPr lang="en-IN" dirty="0" err="1"/>
              <a:t>sON</a:t>
            </a:r>
            <a:r>
              <a:rPr lang="en-IN" dirty="0"/>
              <a:t> </a:t>
            </a:r>
            <a:r>
              <a:rPr lang="en-IN" dirty="0" err="1"/>
              <a:t>d.doctor_id</a:t>
            </a:r>
            <a:r>
              <a:rPr lang="en-IN" dirty="0"/>
              <a:t>=</a:t>
            </a:r>
            <a:r>
              <a:rPr lang="en-IN" dirty="0" err="1"/>
              <a:t>s.doctor_idWHERE</a:t>
            </a:r>
            <a:r>
              <a:rPr lang="en-IN" dirty="0"/>
              <a:t> </a:t>
            </a:r>
            <a:r>
              <a:rPr lang="en-IN" dirty="0" err="1"/>
              <a:t>s.net_salary</a:t>
            </a:r>
            <a:r>
              <a:rPr lang="en-IN" dirty="0"/>
              <a:t> &gt; ALL(SELECT s2.net_salaryFROM Doctors d2JOIN Salary s2ON d2.doctor_id=s2.doctor_idWHERE d2.department_id=1);</a:t>
            </a:r>
          </a:p>
        </p:txBody>
      </p:sp>
      <p:pic>
        <p:nvPicPr>
          <p:cNvPr id="5" name="Picture 4">
            <a:extLst>
              <a:ext uri="{FF2B5EF4-FFF2-40B4-BE49-F238E27FC236}">
                <a16:creationId xmlns:a16="http://schemas.microsoft.com/office/drawing/2014/main" id="{66394DB4-527B-CFD1-68CD-33A92D716D71}"/>
              </a:ext>
            </a:extLst>
          </p:cNvPr>
          <p:cNvPicPr>
            <a:picLocks noChangeAspect="1"/>
          </p:cNvPicPr>
          <p:nvPr/>
        </p:nvPicPr>
        <p:blipFill>
          <a:blip r:embed="rId2"/>
          <a:stretch>
            <a:fillRect/>
          </a:stretch>
        </p:blipFill>
        <p:spPr>
          <a:xfrm>
            <a:off x="4531217" y="3682936"/>
            <a:ext cx="3292125" cy="1463167"/>
          </a:xfrm>
          <a:prstGeom prst="rect">
            <a:avLst/>
          </a:prstGeom>
        </p:spPr>
      </p:pic>
    </p:spTree>
    <p:extLst>
      <p:ext uri="{BB962C8B-B14F-4D97-AF65-F5344CB8AC3E}">
        <p14:creationId xmlns:p14="http://schemas.microsoft.com/office/powerpoint/2010/main" val="20866868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C525D-78FA-C4FC-EEDF-0C4134E51D03}"/>
              </a:ext>
            </a:extLst>
          </p:cNvPr>
          <p:cNvSpPr>
            <a:spLocks noGrp="1"/>
          </p:cNvSpPr>
          <p:nvPr>
            <p:ph type="title"/>
          </p:nvPr>
        </p:nvSpPr>
        <p:spPr/>
        <p:txBody>
          <a:bodyPr/>
          <a:lstStyle/>
          <a:p>
            <a:r>
              <a:rPr lang="en-IN" dirty="0"/>
              <a:t>Complete Patient Treatment Report (8+ JOINs)</a:t>
            </a:r>
          </a:p>
        </p:txBody>
      </p:sp>
      <p:sp>
        <p:nvSpPr>
          <p:cNvPr id="3" name="Content Placeholder 2">
            <a:extLst>
              <a:ext uri="{FF2B5EF4-FFF2-40B4-BE49-F238E27FC236}">
                <a16:creationId xmlns:a16="http://schemas.microsoft.com/office/drawing/2014/main" id="{B799785A-E8AF-AE1E-E485-DFD97491DB52}"/>
              </a:ext>
            </a:extLst>
          </p:cNvPr>
          <p:cNvSpPr>
            <a:spLocks noGrp="1"/>
          </p:cNvSpPr>
          <p:nvPr>
            <p:ph sz="quarter" idx="1"/>
          </p:nvPr>
        </p:nvSpPr>
        <p:spPr>
          <a:xfrm>
            <a:off x="402336" y="1527048"/>
            <a:ext cx="11338560" cy="4802632"/>
          </a:xfrm>
        </p:spPr>
        <p:txBody>
          <a:bodyPr>
            <a:normAutofit fontScale="92500" lnSpcReduction="10000"/>
          </a:bodyPr>
          <a:lstStyle/>
          <a:p>
            <a:r>
              <a:rPr lang="en-IN" dirty="0"/>
              <a:t>SELECTp.first_name,p.last_name,d.doctor_name,dep.department_name,r.room_number,lt.test_name,m.medicine_name,b.total_amount,pay.payment_status,i.company_nameFROM Patients </a:t>
            </a:r>
            <a:r>
              <a:rPr lang="en-IN" dirty="0" err="1"/>
              <a:t>pJOIN</a:t>
            </a:r>
            <a:r>
              <a:rPr lang="en-IN" dirty="0"/>
              <a:t> Admissions a    ON </a:t>
            </a:r>
            <a:r>
              <a:rPr lang="en-IN" dirty="0" err="1"/>
              <a:t>p.patient_id</a:t>
            </a:r>
            <a:r>
              <a:rPr lang="en-IN" dirty="0"/>
              <a:t>=</a:t>
            </a:r>
            <a:r>
              <a:rPr lang="en-IN" dirty="0" err="1"/>
              <a:t>a.patient_idJOIN</a:t>
            </a:r>
            <a:r>
              <a:rPr lang="en-IN" dirty="0"/>
              <a:t> Doctors d    ON </a:t>
            </a:r>
            <a:r>
              <a:rPr lang="en-IN" dirty="0" err="1"/>
              <a:t>a.doctor_id</a:t>
            </a:r>
            <a:r>
              <a:rPr lang="en-IN" dirty="0"/>
              <a:t>=</a:t>
            </a:r>
            <a:r>
              <a:rPr lang="en-IN" dirty="0" err="1"/>
              <a:t>d.doctor_idJOIN</a:t>
            </a:r>
            <a:r>
              <a:rPr lang="en-IN" dirty="0"/>
              <a:t> Departments dep    ON </a:t>
            </a:r>
            <a:r>
              <a:rPr lang="en-IN" dirty="0" err="1"/>
              <a:t>d.department_id</a:t>
            </a:r>
            <a:r>
              <a:rPr lang="en-IN" dirty="0"/>
              <a:t>=</a:t>
            </a:r>
            <a:r>
              <a:rPr lang="en-IN" dirty="0" err="1"/>
              <a:t>dep.department_idJOIN</a:t>
            </a:r>
            <a:r>
              <a:rPr lang="en-IN" dirty="0"/>
              <a:t> Rooms r    ON </a:t>
            </a:r>
            <a:r>
              <a:rPr lang="en-IN" dirty="0" err="1"/>
              <a:t>a.room_id</a:t>
            </a:r>
            <a:r>
              <a:rPr lang="en-IN" dirty="0"/>
              <a:t>=</a:t>
            </a:r>
            <a:r>
              <a:rPr lang="en-IN" dirty="0" err="1"/>
              <a:t>r.room_idLEFT</a:t>
            </a:r>
            <a:r>
              <a:rPr lang="en-IN" dirty="0"/>
              <a:t> JOIN </a:t>
            </a:r>
            <a:r>
              <a:rPr lang="en-IN" dirty="0" err="1"/>
              <a:t>Laboratory_Tests</a:t>
            </a:r>
            <a:r>
              <a:rPr lang="en-IN" dirty="0"/>
              <a:t> </a:t>
            </a:r>
            <a:r>
              <a:rPr lang="en-IN" dirty="0" err="1"/>
              <a:t>lt</a:t>
            </a:r>
            <a:r>
              <a:rPr lang="en-IN" dirty="0"/>
              <a:t>    ON </a:t>
            </a:r>
            <a:r>
              <a:rPr lang="en-IN" dirty="0" err="1"/>
              <a:t>p.patient_id</a:t>
            </a:r>
            <a:r>
              <a:rPr lang="en-IN" dirty="0"/>
              <a:t>=</a:t>
            </a:r>
            <a:r>
              <a:rPr lang="en-IN" dirty="0" err="1"/>
              <a:t>lt.patient_idLEFT</a:t>
            </a:r>
            <a:r>
              <a:rPr lang="en-IN" dirty="0"/>
              <a:t> JOIN Prescriptions pr    ON </a:t>
            </a:r>
            <a:r>
              <a:rPr lang="en-IN" dirty="0" err="1"/>
              <a:t>p.patient_id</a:t>
            </a:r>
            <a:r>
              <a:rPr lang="en-IN" dirty="0"/>
              <a:t>=</a:t>
            </a:r>
            <a:r>
              <a:rPr lang="en-IN" dirty="0" err="1"/>
              <a:t>pr.patient_idLEFT</a:t>
            </a:r>
            <a:r>
              <a:rPr lang="en-IN" dirty="0"/>
              <a:t> JOIN Medicines m    ON </a:t>
            </a:r>
            <a:r>
              <a:rPr lang="en-IN" dirty="0" err="1"/>
              <a:t>pr.medicine_id</a:t>
            </a:r>
            <a:r>
              <a:rPr lang="en-IN" dirty="0"/>
              <a:t>=</a:t>
            </a:r>
            <a:r>
              <a:rPr lang="en-IN" dirty="0" err="1"/>
              <a:t>m.medicine_idLEFT</a:t>
            </a:r>
            <a:r>
              <a:rPr lang="en-IN" dirty="0"/>
              <a:t> JOIN Bills b    ON </a:t>
            </a:r>
            <a:r>
              <a:rPr lang="en-IN" dirty="0" err="1"/>
              <a:t>a.admission_id</a:t>
            </a:r>
            <a:r>
              <a:rPr lang="en-IN" dirty="0"/>
              <a:t>=</a:t>
            </a:r>
            <a:r>
              <a:rPr lang="en-IN" dirty="0" err="1"/>
              <a:t>b.admission_idLEFT</a:t>
            </a:r>
            <a:r>
              <a:rPr lang="en-IN" dirty="0"/>
              <a:t> JOIN Payments pay    ON </a:t>
            </a:r>
            <a:r>
              <a:rPr lang="en-IN" dirty="0" err="1"/>
              <a:t>b.bill_id</a:t>
            </a:r>
            <a:r>
              <a:rPr lang="en-IN" dirty="0"/>
              <a:t>=</a:t>
            </a:r>
            <a:r>
              <a:rPr lang="en-IN" dirty="0" err="1"/>
              <a:t>pay.bill_idLEFT</a:t>
            </a:r>
            <a:r>
              <a:rPr lang="en-IN" dirty="0"/>
              <a:t> JOIN Insurance </a:t>
            </a:r>
            <a:r>
              <a:rPr lang="en-IN" dirty="0" err="1"/>
              <a:t>i</a:t>
            </a:r>
            <a:r>
              <a:rPr lang="en-IN" dirty="0"/>
              <a:t>    ON </a:t>
            </a:r>
            <a:r>
              <a:rPr lang="en-IN" dirty="0" err="1"/>
              <a:t>p.patient_id</a:t>
            </a:r>
            <a:r>
              <a:rPr lang="en-IN" dirty="0"/>
              <a:t>=</a:t>
            </a:r>
            <a:r>
              <a:rPr lang="en-IN" dirty="0" err="1"/>
              <a:t>i.patient_idORDER</a:t>
            </a:r>
            <a:r>
              <a:rPr lang="en-IN" dirty="0"/>
              <a:t> BY </a:t>
            </a:r>
            <a:r>
              <a:rPr lang="en-IN" dirty="0" err="1"/>
              <a:t>p.patient_id</a:t>
            </a:r>
            <a:r>
              <a:rPr lang="en-IN" dirty="0"/>
              <a:t>;</a:t>
            </a:r>
          </a:p>
        </p:txBody>
      </p:sp>
    </p:spTree>
    <p:extLst>
      <p:ext uri="{BB962C8B-B14F-4D97-AF65-F5344CB8AC3E}">
        <p14:creationId xmlns:p14="http://schemas.microsoft.com/office/powerpoint/2010/main" val="8376324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CCAD2-1E9D-3DB5-47E3-C3CFAEE94DC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3AE93B53-C233-15E7-3963-14BEBF10E4EF}"/>
              </a:ext>
            </a:extLst>
          </p:cNvPr>
          <p:cNvPicPr>
            <a:picLocks noGrp="1" noChangeAspect="1"/>
          </p:cNvPicPr>
          <p:nvPr>
            <p:ph sz="quarter" idx="1"/>
          </p:nvPr>
        </p:nvPicPr>
        <p:blipFill>
          <a:blip r:embed="rId2"/>
          <a:stretch>
            <a:fillRect/>
          </a:stretch>
        </p:blipFill>
        <p:spPr>
          <a:xfrm>
            <a:off x="1319912" y="1717493"/>
            <a:ext cx="9502964" cy="4191363"/>
          </a:xfrm>
          <a:prstGeom prst="rect">
            <a:avLst/>
          </a:prstGeom>
        </p:spPr>
      </p:pic>
    </p:spTree>
    <p:extLst>
      <p:ext uri="{BB962C8B-B14F-4D97-AF65-F5344CB8AC3E}">
        <p14:creationId xmlns:p14="http://schemas.microsoft.com/office/powerpoint/2010/main" val="8067142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E2308-FED0-2155-E41A-ABF924239009}"/>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81D6C071-2CEC-DDB9-93C7-2B0E37FBBF3E}"/>
              </a:ext>
            </a:extLst>
          </p:cNvPr>
          <p:cNvSpPr>
            <a:spLocks noGrp="1"/>
          </p:cNvSpPr>
          <p:nvPr>
            <p:ph sz="quarter" idx="1"/>
          </p:nvPr>
        </p:nvSpPr>
        <p:spPr>
          <a:xfrm>
            <a:off x="402336" y="1527048"/>
            <a:ext cx="11338560" cy="2936797"/>
          </a:xfrm>
        </p:spPr>
        <p:txBody>
          <a:bodyPr>
            <a:normAutofit fontScale="92500" lnSpcReduction="20000"/>
          </a:bodyPr>
          <a:lstStyle/>
          <a:p>
            <a:r>
              <a:rPr lang="en-IN" dirty="0"/>
              <a:t>The </a:t>
            </a:r>
            <a:r>
              <a:rPr lang="en-IN" b="1" dirty="0"/>
              <a:t>Hospital Management System</a:t>
            </a:r>
            <a:r>
              <a:rPr lang="en-IN" dirty="0"/>
              <a:t> is a well-structured and normalized SQL-based solution that efficiently manages essential hospital operations such as patients, doctors, departments, appointments, admissions, medicines, prescriptions, laboratory tests, billing, payments, staff, nurses, rooms, salaries, and insurance. It maintains strong relationships between data, ensures data integrity and consistency, and supports efficient querying. The system is suitable for </a:t>
            </a:r>
            <a:r>
              <a:rPr lang="en-IN" b="1" dirty="0"/>
              <a:t>educational purposes, presentations, and further development into a complete hospital management application</a:t>
            </a:r>
            <a:r>
              <a:rPr lang="en-IN" dirty="0"/>
              <a:t>.</a:t>
            </a:r>
          </a:p>
        </p:txBody>
      </p:sp>
      <p:pic>
        <p:nvPicPr>
          <p:cNvPr id="5" name="Picture 4">
            <a:extLst>
              <a:ext uri="{FF2B5EF4-FFF2-40B4-BE49-F238E27FC236}">
                <a16:creationId xmlns:a16="http://schemas.microsoft.com/office/drawing/2014/main" id="{8BC61EBD-62F4-BC43-E805-10D83D766F44}"/>
              </a:ext>
            </a:extLst>
          </p:cNvPr>
          <p:cNvPicPr>
            <a:picLocks noChangeAspect="1"/>
          </p:cNvPicPr>
          <p:nvPr/>
        </p:nvPicPr>
        <p:blipFill>
          <a:blip r:embed="rId2"/>
          <a:stretch>
            <a:fillRect/>
          </a:stretch>
        </p:blipFill>
        <p:spPr>
          <a:xfrm>
            <a:off x="1092905" y="4282587"/>
            <a:ext cx="9957422" cy="2236200"/>
          </a:xfrm>
          <a:prstGeom prst="rect">
            <a:avLst/>
          </a:prstGeom>
        </p:spPr>
      </p:pic>
    </p:spTree>
    <p:extLst>
      <p:ext uri="{BB962C8B-B14F-4D97-AF65-F5344CB8AC3E}">
        <p14:creationId xmlns:p14="http://schemas.microsoft.com/office/powerpoint/2010/main" val="17581084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82EB7-389C-0588-88AD-72AB3B99AC22}"/>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1C893D73-4C78-BB7D-A37B-EAF04D341995}"/>
              </a:ext>
            </a:extLst>
          </p:cNvPr>
          <p:cNvSpPr>
            <a:spLocks noGrp="1"/>
          </p:cNvSpPr>
          <p:nvPr>
            <p:ph sz="quarter" idx="1"/>
          </p:nvPr>
        </p:nvSpPr>
        <p:spPr>
          <a:xfrm>
            <a:off x="402336" y="3429000"/>
            <a:ext cx="11338560" cy="2670048"/>
          </a:xfrm>
        </p:spPr>
        <p:txBody>
          <a:bodyPr/>
          <a:lstStyle/>
          <a:p>
            <a:pPr marL="0" indent="0">
              <a:buNone/>
            </a:pPr>
            <a:r>
              <a:rPr lang="en-IN" sz="2800" dirty="0">
                <a:latin typeface="Times New Roman" panose="02020603050405020304" pitchFamily="18" charset="0"/>
                <a:cs typeface="Times New Roman" panose="02020603050405020304" pitchFamily="18" charset="0"/>
              </a:rPr>
              <a:t>                                                  </a:t>
            </a:r>
            <a:r>
              <a:rPr lang="en-IN" sz="4400" dirty="0">
                <a:latin typeface="Times New Roman" panose="02020603050405020304" pitchFamily="18" charset="0"/>
                <a:cs typeface="Times New Roman" panose="02020603050405020304" pitchFamily="18" charset="0"/>
              </a:rPr>
              <a:t>Thank you !</a:t>
            </a:r>
          </a:p>
          <a:p>
            <a:endParaRPr lang="en-IN" dirty="0"/>
          </a:p>
        </p:txBody>
      </p:sp>
    </p:spTree>
    <p:extLst>
      <p:ext uri="{BB962C8B-B14F-4D97-AF65-F5344CB8AC3E}">
        <p14:creationId xmlns:p14="http://schemas.microsoft.com/office/powerpoint/2010/main" val="194137382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Theme1" id="{989A4236-93C0-4B56-B6FC-AF5BE0503FAE}" vid="{57F78E21-1C4F-445C-8FB6-6BC1C17BB79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219</TotalTime>
  <Words>2369</Words>
  <Application>Microsoft Office PowerPoint</Application>
  <PresentationFormat>Widescreen</PresentationFormat>
  <Paragraphs>72</Paragraphs>
  <Slides>36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Calibri</vt:lpstr>
      <vt:lpstr>Georgia</vt:lpstr>
      <vt:lpstr>Times New Roman</vt:lpstr>
      <vt:lpstr>Wingdings</vt:lpstr>
      <vt:lpstr>Wingdings 2</vt:lpstr>
      <vt:lpstr>Theme1</vt:lpstr>
      <vt:lpstr>Hospital Management System</vt:lpstr>
      <vt:lpstr>INTRODUCTION</vt:lpstr>
      <vt:lpstr>FEATURES</vt:lpstr>
      <vt:lpstr>ER Diagram </vt:lpstr>
      <vt:lpstr>How to Create Database  And Table </vt:lpstr>
      <vt:lpstr> How to Insert values in a table</vt:lpstr>
      <vt:lpstr>Find the Top 5 Highest Paid Doctors</vt:lpstr>
      <vt:lpstr>Department-wise Revenue</vt:lpstr>
      <vt:lpstr>Doctors Earning Above Average Salary</vt:lpstr>
      <vt:lpstr>Patients with Pending Bills</vt:lpstr>
      <vt:lpstr>Top 5  Revenue Generating Patients</vt:lpstr>
      <vt:lpstr>Rank Doctors by Salary</vt:lpstr>
      <vt:lpstr>Dense Rank Doctors by Salary</vt:lpstr>
      <vt:lpstr>Previous Doctor Salary (LAG)</vt:lpstr>
      <vt:lpstr>Next Doctor Salary (LEAD)</vt:lpstr>
      <vt:lpstr>Running Hospital Revenue</vt:lpstr>
      <vt:lpstr> Monthly Revenue Trend</vt:lpstr>
      <vt:lpstr>Average Bill by Department</vt:lpstr>
      <vt:lpstr>Department Generating Highest Revenue</vt:lpstr>
      <vt:lpstr> Most Frequently Prescribed Medicine</vt:lpstr>
      <vt:lpstr>Patients Admitted More Than Once</vt:lpstr>
      <vt:lpstr>Average Hospital Stay</vt:lpstr>
      <vt:lpstr>Longest Hospital Stay</vt:lpstr>
      <vt:lpstr>Insurance Company with Highest Claims</vt:lpstr>
      <vt:lpstr>Room Occupancy</vt:lpstr>
      <vt:lpstr>Doctor-wise Revenue</vt:lpstr>
      <vt:lpstr>Department-wise Average Salary</vt:lpstr>
      <vt:lpstr>Doctors Earning More Than Department Average </vt:lpstr>
      <vt:lpstr>Patients Having Insurance and Pending Bills </vt:lpstr>
      <vt:lpstr>Medicines Never Prescribed </vt:lpstr>
      <vt:lpstr> Top Revenue Department</vt:lpstr>
      <vt:lpstr>Doctors Paid More Than ALL Doctors in Department 1</vt:lpstr>
      <vt:lpstr>Complete Patient Treatment Report (8+ JOINs)</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gowtham reddy</dc:creator>
  <cp:lastModifiedBy>gowtham reddy</cp:lastModifiedBy>
  <cp:revision>1</cp:revision>
  <dcterms:created xsi:type="dcterms:W3CDTF">2026-08-14T05:56:58Z</dcterms:created>
  <dcterms:modified xsi:type="dcterms:W3CDTF">2026-08-14T09:36:01Z</dcterms:modified>
</cp:coreProperties>
</file>